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02d79687069485c" /><Relationship Type="http://schemas.openxmlformats.org/officeDocument/2006/relationships/extended-properties" Target="/docProps/app.xml" Id="R0b9f18786dc34071" /><Relationship Type="http://schemas.openxmlformats.org/officeDocument/2006/relationships/officeDocument" Target="/ppt/presentation.xml" Id="Re4289caf6b544b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7086bebee94e8d"/>
  </p:sldMasterIdLst>
  <p:notesMasterIdLst>
    <p:notesMasterId xmlns:r="http://schemas.openxmlformats.org/officeDocument/2006/relationships" r:id="R7cddc17352bf452f"/>
  </p:notesMasterIdLst>
  <p:sldIdLst>
    <p:sldId xmlns:r="http://schemas.openxmlformats.org/officeDocument/2006/relationships" id="256" r:id="Racc2d34c5ef348a0"/>
    <p:sldId xmlns:r="http://schemas.openxmlformats.org/officeDocument/2006/relationships" id="257" r:id="R6469f2b7a8dc4f9b"/>
    <p:sldId xmlns:r="http://schemas.openxmlformats.org/officeDocument/2006/relationships" id="258" r:id="Raba611784a5e4b04"/>
    <p:sldId xmlns:r="http://schemas.openxmlformats.org/officeDocument/2006/relationships" id="259" r:id="R47090199bb194d5d"/>
    <p:sldId xmlns:r="http://schemas.openxmlformats.org/officeDocument/2006/relationships" id="260" r:id="R931e3ac53e7847af"/>
    <p:sldId xmlns:r="http://schemas.openxmlformats.org/officeDocument/2006/relationships" id="261" r:id="Re625cc8519a445f9"/>
    <p:sldId xmlns:r="http://schemas.openxmlformats.org/officeDocument/2006/relationships" id="262" r:id="R29a6b1c88fdb4964"/>
    <p:sldId xmlns:r="http://schemas.openxmlformats.org/officeDocument/2006/relationships" id="263" r:id="R7f23b17337284619"/>
    <p:sldId xmlns:r="http://schemas.openxmlformats.org/officeDocument/2006/relationships" id="264" r:id="R49c5f569c9cd41e8"/>
    <p:sldId xmlns:r="http://schemas.openxmlformats.org/officeDocument/2006/relationships" id="265" r:id="R3e9a36c8746c4cb3"/>
    <p:sldId xmlns:r="http://schemas.openxmlformats.org/officeDocument/2006/relationships" id="266" r:id="R66eb525d7c7c4e21"/>
    <p:sldId xmlns:r="http://schemas.openxmlformats.org/officeDocument/2006/relationships" id="267" r:id="Rbc03f6ec39df475d"/>
    <p:sldId xmlns:r="http://schemas.openxmlformats.org/officeDocument/2006/relationships" id="268" r:id="R5894155f2f1c4f0d"/>
    <p:sldId xmlns:r="http://schemas.openxmlformats.org/officeDocument/2006/relationships" id="269" r:id="R5b0cb8f33e494f65"/>
    <p:sldId xmlns:r="http://schemas.openxmlformats.org/officeDocument/2006/relationships" id="270" r:id="R865e14f27e3e4c9a"/>
    <p:sldId xmlns:r="http://schemas.openxmlformats.org/officeDocument/2006/relationships" id="271" r:id="Re78f9741dd7e48ff"/>
    <p:sldId xmlns:r="http://schemas.openxmlformats.org/officeDocument/2006/relationships" id="272" r:id="R2c21cc685a2b49f8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4e3af2a65c434a" /><Relationship Type="http://schemas.openxmlformats.org/officeDocument/2006/relationships/slideMaster" Target="/ppt/slideMasters/slideMaster1.xml" Id="R987086bebee94e8d" /><Relationship Type="http://schemas.openxmlformats.org/officeDocument/2006/relationships/notesMaster" Target="/ppt/notesMasters/notesMaster1.xml" Id="R7cddc17352bf452f" /><Relationship Type="http://schemas.openxmlformats.org/officeDocument/2006/relationships/presProps" Target="/ppt/presProps.xml" Id="Rbbc97de7ac654f4d" /><Relationship Type="http://schemas.openxmlformats.org/officeDocument/2006/relationships/viewProps" Target="/ppt/viewProps.xml" Id="Rb68e5095c2264fcb" /><Relationship Type="http://schemas.openxmlformats.org/officeDocument/2006/relationships/tableStyles" Target="/ppt/tableStyles.xml" Id="R1631450a90ac4082" /><Relationship Type="http://schemas.openxmlformats.org/officeDocument/2006/relationships/slide" Target="/ppt/slides/slide1.xml" Id="Racc2d34c5ef348a0" /><Relationship Type="http://schemas.openxmlformats.org/officeDocument/2006/relationships/slide" Target="/ppt/slides/slide2.xml" Id="R6469f2b7a8dc4f9b" /><Relationship Type="http://schemas.openxmlformats.org/officeDocument/2006/relationships/slide" Target="/ppt/slides/slide3.xml" Id="Raba611784a5e4b04" /><Relationship Type="http://schemas.openxmlformats.org/officeDocument/2006/relationships/slide" Target="/ppt/slides/slide4.xml" Id="R47090199bb194d5d" /><Relationship Type="http://schemas.openxmlformats.org/officeDocument/2006/relationships/slide" Target="/ppt/slides/slide5.xml" Id="R931e3ac53e7847af" /><Relationship Type="http://schemas.openxmlformats.org/officeDocument/2006/relationships/slide" Target="/ppt/slides/slide6.xml" Id="Re625cc8519a445f9" /><Relationship Type="http://schemas.openxmlformats.org/officeDocument/2006/relationships/slide" Target="/ppt/slides/slide7.xml" Id="R29a6b1c88fdb4964" /><Relationship Type="http://schemas.openxmlformats.org/officeDocument/2006/relationships/slide" Target="/ppt/slides/slide8.xml" Id="R7f23b17337284619" /><Relationship Type="http://schemas.openxmlformats.org/officeDocument/2006/relationships/slide" Target="/ppt/slides/slide9.xml" Id="R49c5f569c9cd41e8" /><Relationship Type="http://schemas.openxmlformats.org/officeDocument/2006/relationships/slide" Target="/ppt/slides/slide10.xml" Id="R3e9a36c8746c4cb3" /><Relationship Type="http://schemas.openxmlformats.org/officeDocument/2006/relationships/slide" Target="/ppt/slides/slide11.xml" Id="R66eb525d7c7c4e21" /><Relationship Type="http://schemas.openxmlformats.org/officeDocument/2006/relationships/slide" Target="/ppt/slides/slide12.xml" Id="Rbc03f6ec39df475d" /><Relationship Type="http://schemas.openxmlformats.org/officeDocument/2006/relationships/slide" Target="/ppt/slides/slide13.xml" Id="R5894155f2f1c4f0d" /><Relationship Type="http://schemas.openxmlformats.org/officeDocument/2006/relationships/slide" Target="/ppt/slides/slide14.xml" Id="R5b0cb8f33e494f65" /><Relationship Type="http://schemas.openxmlformats.org/officeDocument/2006/relationships/slide" Target="/ppt/slides/slide15.xml" Id="R865e14f27e3e4c9a" /><Relationship Type="http://schemas.openxmlformats.org/officeDocument/2006/relationships/slide" Target="/ppt/slides/slide16.xml" Id="Re78f9741dd7e48ff" /><Relationship Type="http://schemas.openxmlformats.org/officeDocument/2006/relationships/slide" Target="/ppt/slides/slide17.xml" Id="R2c21cc685a2b49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fa23bbaa0f49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e05eda087e4e45" /><Relationship Type="http://schemas.openxmlformats.org/officeDocument/2006/relationships/notesMaster" Target="/ppt/notesMasters/notesMaster1.xml" Id="Rb864a95e4c064b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30de2856484179" /><Relationship Type="http://schemas.openxmlformats.org/officeDocument/2006/relationships/notesMaster" Target="/ppt/notesMasters/notesMaster1.xml" Id="Rc2d03989f07346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4f95b353dd48ba" /><Relationship Type="http://schemas.openxmlformats.org/officeDocument/2006/relationships/notesMaster" Target="/ppt/notesMasters/notesMaster1.xml" Id="Re8de9b9e5ed848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6922995c484719" /><Relationship Type="http://schemas.openxmlformats.org/officeDocument/2006/relationships/notesMaster" Target="/ppt/notesMasters/notesMaster1.xml" Id="Rc942e2b8bf4344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8fda2825764469" /><Relationship Type="http://schemas.openxmlformats.org/officeDocument/2006/relationships/notesMaster" Target="/ppt/notesMasters/notesMaster1.xml" Id="Rc66469cd6aee4d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3dbe2cb2e284b61" /><Relationship Type="http://schemas.openxmlformats.org/officeDocument/2006/relationships/notesMaster" Target="/ppt/notesMasters/notesMaster1.xml" Id="Rf6806bc11d214d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150f9769364a2e" /><Relationship Type="http://schemas.openxmlformats.org/officeDocument/2006/relationships/notesMaster" Target="/ppt/notesMasters/notesMaster1.xml" Id="R5b24f973405949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b24b6fddb74481" /><Relationship Type="http://schemas.openxmlformats.org/officeDocument/2006/relationships/notesMaster" Target="/ppt/notesMasters/notesMaster1.xml" Id="R60c075e2753040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791b05f40046ea" /><Relationship Type="http://schemas.openxmlformats.org/officeDocument/2006/relationships/notesMaster" Target="/ppt/notesMasters/notesMaster1.xml" Id="R0f7b4dee1bc940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9de1dcca884c4c" /><Relationship Type="http://schemas.openxmlformats.org/officeDocument/2006/relationships/notesMaster" Target="/ppt/notesMasters/notesMaster1.xml" Id="Re717c226a0c84c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6ff33fc9a14f26" /><Relationship Type="http://schemas.openxmlformats.org/officeDocument/2006/relationships/notesMaster" Target="/ppt/notesMasters/notesMaster1.xml" Id="Rdc8c9f9acb214b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f22cfb79e5d4228" /><Relationship Type="http://schemas.openxmlformats.org/officeDocument/2006/relationships/notesMaster" Target="/ppt/notesMasters/notesMaster1.xml" Id="Ra9384862c7954a2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f9ab72d8464464" /><Relationship Type="http://schemas.openxmlformats.org/officeDocument/2006/relationships/notesMaster" Target="/ppt/notesMasters/notesMaster1.xml" Id="R12f1ff9ed8bb45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1aa4498f4e43f0" /><Relationship Type="http://schemas.openxmlformats.org/officeDocument/2006/relationships/notesMaster" Target="/ppt/notesMasters/notesMaster1.xml" Id="R9f7fd6c2ea6a44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93163ed4ddf4745" /><Relationship Type="http://schemas.openxmlformats.org/officeDocument/2006/relationships/notesMaster" Target="/ppt/notesMasters/notesMaster1.xml" Id="R7c2ded58af5f46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c1c92e02907489a" /><Relationship Type="http://schemas.openxmlformats.org/officeDocument/2006/relationships/notesMaster" Target="/ppt/notesMasters/notesMaster1.xml" Id="Ra80d3569f5f042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06c66761de4a36" /><Relationship Type="http://schemas.openxmlformats.org/officeDocument/2006/relationships/notesMaster" Target="/ppt/notesMasters/notesMaster1.xml" Id="Ref315ae162ad46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开场介绍。演讲者：Somendra。目标：说明如何使用 SwiftUI 和 UIKit，让现有应用适应显示区域和窗口尺寸的变化，同时保留内容、操作可达性和状态。后续页面将 API、代码与 UI 示例对应起来。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这些图片是项目早期的截图：Docs/Screenshots/01_outer_portrait.png 和 02_inner_open.png。应用中的标签表示演示预设，不代表检测到真实硬件。截图展示既有应用的层级和内容，不能证明最新改动已成功运行。当前源码包含原生“工作区”“检查”“设置”标签页及 API Lab，这些早期截图尚未展示这些入口。目标是通过原生导航和有针对性的自定义布局调整，构建一个能够自适应的应用。所有证据链接均保留在讲者备注中，不另设来源或参考资料页。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https://developer.apple.com/videos/play/tech-talks/111466/</a:t>
            </a:r>
          </a:p>
          <a:p xmlns:a="http://schemas.openxmlformats.org/drawingml/2006/main">
            <a:r>
              <a:t>https://developer.apple.com/videos/play/tech-talks/111461/</a:t>
            </a:r>
          </a:p>
          <a:p xmlns:a="http://schemas.openxmlformats.org/drawingml/2006/main">
            <a:r>
              <a:t>https://www.avanderlee.com/swiftui/iphone-duo-simulator/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LayoutAPIDemo.swift 使用 AnyLayout，并在局部宽度和 Dynamic Type 变化时保留标题及完成状态。幻灯片中的 600 pt 阈值仅作示意，实际示例使用 640 pt 作为内容适配规则。UIKitAPIDemo.swift 从局部视图读取 traitCollection.displayScale。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https://developer.apple.com/documentation/swiftui/geometryreader</a:t>
            </a:r>
          </a:p>
          <a:p xmlns:a="http://schemas.openxmlformats.org/drawingml/2006/main">
            <a:r>
              <a:t>https://developer.apple.com/documentation/swiftui/anylayout</a:t>
            </a:r>
          </a:p>
          <a:p xmlns:a="http://schemas.openxmlformats.org/drawingml/2006/main">
            <a:r>
              <a:t>https://developer.apple.com/documentation/swiftui/environmentvalues/horizontalsizeclass</a:t>
            </a:r>
          </a:p>
          <a:p xmlns:a="http://schemas.openxmlformats.org/drawingml/2006/main">
            <a:r>
              <a:t>https://developer.apple.com/documentation/swiftui/environmentvalues/verticalsizeclass</a:t>
            </a:r>
          </a:p>
          <a:p xmlns:a="http://schemas.openxmlformats.org/drawingml/2006/main">
            <a:r>
              <a:t>https://developer.apple.com/documentation/uikit/uiscreen/main</a:t>
            </a:r>
          </a:p>
          <a:p xmlns:a="http://schemas.openxmlformats.org/drawingml/2006/main">
            <a:r>
              <a:t>https://developer.apple.com/documentation/uikit/uiwindowscene/screen</a:t>
            </a:r>
          </a:p>
          <a:p xmlns:a="http://schemas.openxmlformats.org/drawingml/2006/main">
            <a:r>
              <a:t>https://developer.apple.com/videos/play/tech-talks/111461/?time=166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TabAPIDemo.swift 提供可交互的全屏标签页会话，包含共享备注状态、sidebarAdaptable、defaultTabBarPlacement（原生编译路径），以及用于 iPad 的 defaultAdaptableTabBarPlacement。UIKitAPIDemo.swift 在单独会话中承载 UITabBarController、sidebar 模式和 preferredPlacement。展示的代码是精简模式，RootView 仍管理主界面的三个目标页面。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https://developer.apple.com/documentation/swiftui/tabview</a:t>
            </a:r>
          </a:p>
          <a:p xmlns:a="http://schemas.openxmlformats.org/drawingml/2006/main">
            <a:r>
              <a:t>https://developer.apple.com/documentation/swiftui/tab</a:t>
            </a:r>
          </a:p>
          <a:p xmlns:a="http://schemas.openxmlformats.org/drawingml/2006/main">
            <a:r>
              <a:t>https://developer.apple.com/documentation/swiftui/view/defaulttabbarplacement(_:)</a:t>
            </a:r>
          </a:p>
          <a:p xmlns:a="http://schemas.openxmlformats.org/drawingml/2006/main">
            <a:r>
              <a:t>https://developer.apple.com/documentation/swiftui/tabviewstyle/sidebaradaptable</a:t>
            </a:r>
          </a:p>
          <a:p xmlns:a="http://schemas.openxmlformats.org/drawingml/2006/main">
            <a:r>
              <a:t>https://developer.apple.com/documentation/uikit/uitabbarcontroller/sidebar</a:t>
            </a:r>
          </a:p>
          <a:p xmlns:a="http://schemas.openxmlformats.org/drawingml/2006/main">
            <a:r>
              <a:t>https://developer.apple.com/videos/play/tech-talks/111461/?time=323</a:t>
            </a:r>
          </a:p>
          <a:p xmlns:a="http://schemas.openxmlformats.org/drawingml/2006/main">
            <a:r>
              <a:t>https://developer.apple.com/videos/play/tech-talks/111462/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这段精简代码对应 RootView.workspace。workspaceDetail 代表现有 DashboardView 调用及其 filteredItems 和 bindings。这个辅助名称用于提高可读性，并非新 API，也不是 RootView 中已有的声明。WorkCategory、selectedCategory 和筛选数据均由项目定义。布局变化时保留同一个 SwiftData container 和导航状态。不要仅为附加 toolbar，就在既有 NavigationSplitView 的 detail 外再包一层 NavigationStack。截图裁剪自 Docs/Screenshots/02_inner_open.png。应区分应用之间的 Split View 多任务与应用内部的导航容器。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https://developer.apple.com/documentation/swiftui/navigationsplitview</a:t>
            </a:r>
          </a:p>
          <a:p xmlns:a="http://schemas.openxmlformats.org/drawingml/2006/main">
            <a:r>
              <a:t>https://developer.apple.com/documentation/uikit/uisplitviewcontroller</a:t>
            </a:r>
          </a:p>
          <a:p xmlns:a="http://schemas.openxmlformats.org/drawingml/2006/main">
            <a:r>
              <a:t>https://developer.apple.com/videos/play/tech-talks/111461/?time=301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WorkspaceControls 和 RecordCards 是示意性的应用前景视图。SwiftUI 前景默认遵守 safe area，此处的 ignoresSafeArea(.container) 仅作用于装饰性背景颜色。UIKit Auto Layout 应将前景约束到 safeAreaLayoutGuide。手动布局时，在布局过程中设置 foregroundView.frame = view.bounds.inset(by: view.safeAreaInsets)，并设置 backgroundView.frame = view.bounds。计算可用宽度时，不要将单侧 inset 直接乘以二。layout margins 也可能不对称，且与 safe area 不同。SafeAreaInset 可在适用位置添加应用内容，同时保留 inset 约定。需测试旋转、键盘、RTL 以及 Split View 的左右两侧。所用图片是 Apple 参考 UI，背景行为的实现位于 DashboardView。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https://developer.apple.com/documentation/swiftui/view/ignoressafearea(_:edges:)</a:t>
            </a:r>
          </a:p>
          <a:p xmlns:a="http://schemas.openxmlformats.org/drawingml/2006/main">
            <a:r>
              <a:t>https://developer.apple.com/documentation/uikit/uiview/safearealayoutguide</a:t>
            </a:r>
          </a:p>
          <a:p xmlns:a="http://schemas.openxmlformats.org/drawingml/2006/main">
            <a:r>
              <a:t>https://developer.apple.com/documentation/uikit/uiview/safeareainsets</a:t>
            </a:r>
          </a:p>
          <a:p xmlns:a="http://schemas.openxmlformats.org/drawingml/2006/main">
            <a:r>
              <a:t>https://developer.apple.com/videos/play/tech-talks/111461/?time=427</a:t>
            </a:r>
          </a:p>
          <a:p xmlns:a="http://schemas.openxmlformats.org/drawingml/2006/main">
            <a:r>
              <a:t>https://developer.apple.com/videos/play/tech-talks/111466/?time=393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代码精简自 DashboardHeader 的候选布局。WorkItemCard 另外使用支持多行的 fixedSize 展示标题和摘要。layoutButtons、layoutControls、poseControl 和 decisionBadge 是现有视图属性，item 属于 WorkItemCard。实际代码还包含行内 Spacer，以及堆叠布局中的嵌套适配候选。截图展示的是旧版内容压缩问题，不能作为修复后的证据。实际 Dashboard 在较矮窗口中还使用紧凑菜单，AdaptiveLayoutPolicy 提供 accessibility 回退策略。避免对大型视图统一设置 fixedSize，垂直空间不足时应允许滚动。Swift 片段是精简的 ViewBuilder 模式，应用定义的辅助视图和属性在备注中说明，需要放入所属 View 并添加适当的 availability 标注。片段省略了无关 modifier。原始资料中的 27.1 API 处于 beta 阶段，需使用匹配的 SDK。Apple 图片用于说明相应行为，并非本项目的 Simulator 运行截图。</a:t>
            </a:r>
          </a:p>
          <a:p xmlns:a="http://schemas.openxmlformats.org/drawingml/2006/main">
            <a:r>
              <a:t>源码：Sources/Views/DashboardView.swift 和 Sources/Views/WorkItemCard.swift。</a:t>
            </a:r>
          </a:p>
          <a:p xmlns:a="http://schemas.openxmlformats.org/drawingml/2006/main">
            <a:r>
              <a:t>Grid 补充：LazyVGrid 配合 GridItem(.adaptive(minimum: minWidth)) 可根据可读内容宽度确定列数。可使用 @ScaledMetric 定义 minWidth，并在 dynamicTypeSize.isAccessibilitySize 时切换为单列。这是可选接入模式，不是现有策略实现。应用已保留用户明确选择的 List/Grid 模式，详细指南包含对应代码。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https://developer.apple.com/documentation/swiftui/viewthatfits</a:t>
            </a:r>
          </a:p>
          <a:p xmlns:a="http://schemas.openxmlformats.org/drawingml/2006/main">
            <a:r>
              <a:t>https://developer.apple.com/documentation/swiftui/view/fixedsize(horizontal:vertical:)</a:t>
            </a:r>
          </a:p>
          <a:p xmlns:a="http://schemas.openxmlformats.org/drawingml/2006/main">
            <a:r>
              <a:t>https://developer.apple.com/documentation/swiftui/viewthatfits</a:t>
            </a:r>
          </a:p>
          <a:p xmlns:a="http://schemas.openxmlformats.org/drawingml/2006/main">
            <a:r>
              <a:t>https://developer.apple.com/documentation/swiftui/griditem/size-swift.enum/adaptive(minimum:maximum:)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SystemArrangementDemo.swift 包含原生 split axes、splitArrangementLayoutRatio(0.35)、splitArrangementAxis 诊断，以及独立的 overlay arrangement，后者使用 overlayArrangementEdge 和 overlayArrangementZIndex。所有记录均保留在 primary 中。这些是 API Lab 示例，不会自动替代工作区中的姿态预览。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https://developer.apple.com/documentation/swiftui/arrangementview</a:t>
            </a:r>
          </a:p>
          <a:p xmlns:a="http://schemas.openxmlformats.org/drawingml/2006/main">
            <a:r>
              <a:t>https://developer.apple.com/documentation/swiftui/view/splitarrangementlayoutratio(_:)</a:t>
            </a:r>
          </a:p>
          <a:p xmlns:a="http://schemas.openxmlformats.org/drawingml/2006/main">
            <a:r>
              <a:t>https://developer.apple.com/documentation/swiftui/overlayarrangementviewstyle</a:t>
            </a:r>
          </a:p>
          <a:p xmlns:a="http://schemas.openxmlformats.org/drawingml/2006/main">
            <a:r>
              <a:t>https://developer.apple.com/videos/play/tech-talks/111463/?time=799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SystemArrangementDemo.swift 除区域检查器外，还提供 NativeRegionAvoidanceDemo。ReservedRegionPlacement.swift 显式计算可容纳控件的矩形，避开当前有效且相交的 division 和 occlusion frame，并保留标准 toolbar 上的“检查”入口。Apple 文档说明 ReservedRegion.frame 已包含交互边距，不应再次扩展。七项专项几何测试已随本地单元测试通过。本页代码展示查询和检查阶段。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https://developer.apple.com/documentation/swiftui/geometryproxy/reservedregions(kind:options:layoutdirectionbehavior:)</a:t>
            </a:r>
          </a:p>
          <a:p xmlns:a="http://schemas.openxmlformats.org/drawingml/2006/main">
            <a:r>
              <a:t>https://developer.apple.com/documentation/swiftui/reservedregion</a:t>
            </a:r>
          </a:p>
          <a:p xmlns:a="http://schemas.openxmlformats.org/drawingml/2006/main">
            <a:r>
              <a:t>https://developer.apple.com/videos/play/tech-talks/111463/?time=500</a:t>
            </a:r>
          </a:p>
          <a:p xmlns:a="http://schemas.openxmlformats.org/drawingml/2006/main">
            <a:r>
              <a:t>https://developer.apple.com/videos/play/tech-talks/111466/?time=568</a:t>
            </a:r>
          </a:p>
          <a:p xmlns:a="http://schemas.openxmlformats.org/drawingml/2006/main">
            <a:r>
              <a:t>https://developer.apple.com/videos/play/tech-talks/111461/?time=488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LayoutAPIDemo.swift 将 ConcentricRectangle 放在 RoundedRectangle 容器中，并提供 inset slider。UIKitAPIDemo.swift 使用 UICornerConfiguration，外层为固定圆角，内层为 container-concentric 圆角，同时提供旧版 OS 回退。Apple 截图用于说明系统几何行为，并非本项目最新运行的截图。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https://developer.apple.com/documentation/swiftui/concentricrectangle</a:t>
            </a:r>
          </a:p>
          <a:p xmlns:a="http://schemas.openxmlformats.org/drawingml/2006/main">
            <a:r>
              <a:t>https://developer.apple.com/documentation/uikit/uicornerconfiguration-swift.struct</a:t>
            </a:r>
          </a:p>
          <a:p xmlns:a="http://schemas.openxmlformats.org/drawingml/2006/main">
            <a:r>
              <a:t>https://developer.apple.com/documentation/uikit/uicornerconfiguration-swift.struct/corners(radius:)</a:t>
            </a:r>
          </a:p>
          <a:p xmlns:a="http://schemas.openxmlformats.org/drawingml/2006/main">
            <a:r>
              <a:t>https://developer.apple.com/documentation/uikit/uicornerradius-swift.struct/containerconcentric(minimum:)</a:t>
            </a:r>
          </a:p>
          <a:p xmlns:a="http://schemas.openxmlformats.org/drawingml/2006/main">
            <a:r>
              <a:t>https://developer.apple.com/videos/play/tech-talks/111461/?time=274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ToolbarAPIDemo.swift 使用 cancellationAction 和 topBarPinnedTrailing，实现“关闭”和“置顶”操作。UIKitToolbarAPIDemo.swift 使用 leadingItemGroups、trailingItemGroups、pinnedTrailingGroup、toolbarItems 及 UINavigationController.setToolbarHidden(false, animated:false)。图中的 Send callback 仅作说明，应用实际使用本地“检查”“置顶”“排序”“添加”和“摘要”操作。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https://developer.apple.com/documentation/swiftui/toolbaritemplacement/cancellationaction</a:t>
            </a:r>
          </a:p>
          <a:p xmlns:a="http://schemas.openxmlformats.org/drawingml/2006/main">
            <a:r>
              <a:t>https://developer.apple.com/documentation/swiftui/toolbaritemplacement/topbarpinnedtrailing</a:t>
            </a:r>
          </a:p>
          <a:p xmlns:a="http://schemas.openxmlformats.org/drawingml/2006/main">
            <a:r>
              <a:t>https://developer.apple.com/documentation/uikit/uinavigationitem/leadingitemgroups</a:t>
            </a:r>
          </a:p>
          <a:p xmlns:a="http://schemas.openxmlformats.org/drawingml/2006/main">
            <a:r>
              <a:t>https://developer.apple.com/documentation/uikit/uinavigationitem/pinnedtrailinggroup</a:t>
            </a:r>
          </a:p>
          <a:p xmlns:a="http://schemas.openxmlformats.org/drawingml/2006/main">
            <a:r>
              <a:t>https://developer.apple.com/documentation/uikit/uinavigationitem/leftitemssupplementbackbutton</a:t>
            </a:r>
          </a:p>
          <a:p xmlns:a="http://schemas.openxmlformats.org/drawingml/2006/main">
            <a:r>
              <a:t>https://developer.apple.com/videos/play/tech-talks/111462/?time=300</a:t>
            </a:r>
          </a:p>
          <a:p xmlns:a="http://schemas.openxmlformats.org/drawingml/2006/main">
            <a:r>
              <a:t>https://developer.apple.com/videos/play/tech-talks/111462/?time=324</a:t>
            </a:r>
          </a:p>
          <a:p xmlns:a="http://schemas.openxmlformats.org/drawingml/2006/main">
            <a:r>
              <a:t>https://developer.apple.com/videos/play/tech-talks/111462/?time=144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ToolbarAPIDemo.swift 调用 ToolbarOverflowMenu、visibilityPriority 和 toolbarVerticalCompressionBehavior。打开原生会话前选择偏好，可观察原生 tabs 与操作项之间的空间分配。UIKitToolbarAPIDemo.swift 展示 visibilityPriority、verticalBarCompressionBehavior，以及通过 UIDeferredMenuElement.uncached 提供的 additionalOverflowItems。幻灯片中的 callback 用于解释配置，可执行的 Lab 操作只修改本地记录，不会导出或重置用户数据。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https://developer.apple.com/documentation/swiftui/toolbarcontent/visibilitypriority(_:)</a:t>
            </a:r>
          </a:p>
          <a:p xmlns:a="http://schemas.openxmlformats.org/drawingml/2006/main">
            <a:r>
              <a:t>https://developer.apple.com/documentation/swiftui/toolbaroverflowmenu</a:t>
            </a:r>
          </a:p>
          <a:p xmlns:a="http://schemas.openxmlformats.org/drawingml/2006/main">
            <a:r>
              <a:t>https://developer.apple.com/documentation/swiftui/view/toolbarverticalcompressionbehavior(_:)</a:t>
            </a:r>
          </a:p>
          <a:p xmlns:a="http://schemas.openxmlformats.org/drawingml/2006/main">
            <a:r>
              <a:t>https://developer.apple.com/documentation/swiftui/toolbarverticalcompressionbehavior/preferstoolbaritems</a:t>
            </a:r>
          </a:p>
          <a:p xmlns:a="http://schemas.openxmlformats.org/drawingml/2006/main">
            <a:r>
              <a:t>https://developer.apple.com/documentation/uikit/uibarbuttonitem/visibilitypriority</a:t>
            </a:r>
          </a:p>
          <a:p xmlns:a="http://schemas.openxmlformats.org/drawingml/2006/main">
            <a:r>
              <a:t>https://developer.apple.com/documentation/uikit/uinavigationitem/verticalbarcompressionbehavior</a:t>
            </a:r>
          </a:p>
          <a:p xmlns:a="http://schemas.openxmlformats.org/drawingml/2006/main">
            <a:r>
              <a:t>https://developer.apple.com/documentation/uikit/uinavigationitem/additionaloverflowitems</a:t>
            </a:r>
          </a:p>
          <a:p xmlns:a="http://schemas.openxmlformats.org/drawingml/2006/main">
            <a:r>
              <a:t>https://developer.apple.com/videos/play/tech-talks/111462/?time=700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ToolbarAPIDemo.swift 调用 axisBehavior、读取 toolbarVerticalEdge，并将自定义“检查”控件切换为紧凑形式。会话启动时可选择 toolbar 的垂直显示和最小化偏好。UIKitToolbarAPIDemo.swift 使用 UIBarButtonItem.axisBehavior 和 traitCollection.verticalBarEdge。edge 表示受支持的首选上下文，不代表当前可见性。所有操作都保留内容区域中的访问入口。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https://developer.apple.com/documentation/swiftui/environmentvalues/toolbarverticaledge</a:t>
            </a:r>
          </a:p>
          <a:p xmlns:a="http://schemas.openxmlformats.org/drawingml/2006/main">
            <a:r>
              <a:t>https://developer.apple.com/documentation/swiftui/toolbarcontent/axisbehavior(_:)</a:t>
            </a:r>
          </a:p>
          <a:p xmlns:a="http://schemas.openxmlformats.org/drawingml/2006/main">
            <a:r>
              <a:t>https://developer.apple.com/documentation/swiftui/label</a:t>
            </a:r>
          </a:p>
          <a:p xmlns:a="http://schemas.openxmlformats.org/drawingml/2006/main">
            <a:r>
              <a:t>https://developer.apple.com/documentation/uikit/uitraitcollection/verticalbaredge</a:t>
            </a:r>
          </a:p>
          <a:p xmlns:a="http://schemas.openxmlformats.org/drawingml/2006/main">
            <a:r>
              <a:t>https://developer.apple.com/documentation/uikit/uiverticalbaredge</a:t>
            </a:r>
          </a:p>
          <a:p xmlns:a="http://schemas.openxmlformats.org/drawingml/2006/main">
            <a:r>
              <a:t>https://developer.apple.com/videos/play/tech-talks/111462/?time=607</a:t>
            </a:r>
          </a:p>
          <a:p xmlns:a="http://schemas.openxmlformats.org/drawingml/2006/main">
            <a:r>
              <a:t>https://developer.apple.com/videos/play/tech-talks/111462/?time=636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PresentationAPIDemo.swift 提供可操作的 sheet（使用 presentationDetents）、popover、alert 和 menu。草稿状态由发起呈现的视图持有。ToolbarAPIDemo.swift 单独展示 toolbarVerticalBehavior 偏好，实际物理位置由原生系统几何布局决定。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https://developer.apple.com/documentation/swiftui/view/sheet(ispresented:ondismiss:content:)</a:t>
            </a:r>
          </a:p>
          <a:p xmlns:a="http://schemas.openxmlformats.org/drawingml/2006/main">
            <a:r>
              <a:t>https://developer.apple.com/documentation/swiftui/view/presentationdetents(_:)</a:t>
            </a:r>
          </a:p>
          <a:p xmlns:a="http://schemas.openxmlformats.org/drawingml/2006/main">
            <a:r>
              <a:t>https://developer.apple.com/documentation/swiftui/view/toolbarverticalbehavior(_:)</a:t>
            </a:r>
          </a:p>
          <a:p xmlns:a="http://schemas.openxmlformats.org/drawingml/2006/main">
            <a:r>
              <a:t>https://developer.apple.com/videos/play/tech-talks/111466/?time=564</a:t>
            </a:r>
          </a:p>
          <a:p xmlns:a="http://schemas.openxmlformats.org/drawingml/2006/main">
            <a:r>
              <a:t>https://developer.apple.com/videos/play/tech-talks/111466/?time=568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Apple 在 Xcode 27.1 中将应用现代化 skill 更名为 App Resizability，并扩展到 SwiftUI 和 iPhone Duo。提供的截图来自 Prepare your app for iPhone Duo，展示在 view/controller 上下文中将 UIScreen.main.scale 替换为 traitCollection.displayScale。这是开发阶段修改源码的工作流，不是 SwiftUI runtime modifier。在 Xcode Coding Assistant 中选择可用的 App Resizability skill，并让它检查 AdaptiveDuoLab.xcworkspace。审阅改动，构建基线与原生路径，再验证尺寸切换。本次未执行 Apple 内置 skill。Docs/Apple_App_Resizability_Workflow.md 提供检查整个 workspace 的提示词和导出指引。</a:t>
            </a:r>
          </a:p>
          <a:p xmlns:a="http://schemas.openxmlformats.org/drawingml/2006/main">
            <a:r>
              <a:t>用户提供的截图：Screenshot 2026-09-26 at 11.15.13 AM.png。幻灯片未标出演讲者姓名。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https://developer.apple.com/videos/play/tech-talks/111461/?time=552</a:t>
            </a:r>
          </a:p>
          <a:p xmlns:a="http://schemas.openxmlformats.org/drawingml/2006/main">
            <a:r>
              <a:t>https://developer.apple.com/videos/play/wwdc2026/278/?time=847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项目包含 25 个 API 目录条目和 8 个交互入口。原有 16 个条目均有源码调用，onHingeChange 有意仅用于诊断，不作为导航触发条件。CameraAPIDemo.swift 包含用户主动开启的后置相机预览，并可通过 sceneAccessory 使用 CameraCaptureAccessory。相机权限和 accessory availability 仍是必要条件。原生路径受 DUO_SDK 和 iOS 27.1 检查控制，目前项目默认启用 DUO_SDK。本地已使用 Xcode 27.1 / iPhone Duo iOS 27.1 Simulator 完成构建，并通过 18 项单元测试和 7 项 UI 测试。这不能替代全部折叠姿态、真机相机、accessory、VoiceOver 及性能验证。本次未执行 Apple 内置 skill。仓库未包含原文引用的 Automation 脚本，不能据此声称已运行这些脚本。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代码片段经过精简。应用提供的 callback 和辅助视图需要相应的外层声明，所列源文件包含完整示例。Apple 参考 UI 用于说明系统行为，项目现有截图展示早期版本。本地已通过 Xcode 27.1 原生构建及 18 项单元测试、7 项 UI 测试，尚未覆盖全部真机和系统交互场景。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参考来源：</a:t>
            </a:r>
          </a:p>
          <a:p xmlns:a="http://schemas.openxmlformats.org/drawingml/2006/main">
            <a:r>
              <a:t>https://developer.apple.com/documentation/swiftui/anylayout</a:t>
            </a:r>
          </a:p>
          <a:p xmlns:a="http://schemas.openxmlformats.org/drawingml/2006/main">
            <a:r>
              <a:t>https://developer.apple.com/documentation/swiftui/view/id(_:)</a:t>
            </a:r>
          </a:p>
          <a:p xmlns:a="http://schemas.openxmlformats.org/drawingml/2006/main">
            <a:r>
              <a:t>https://developer.apple.com/videos/play/tech-talks/111461/?time=552</a:t>
            </a:r>
          </a:p>
          <a:p xmlns:a="http://schemas.openxmlformats.org/drawingml/2006/main">
            <a:r>
              <a:t>https://developer.apple.com/videos/play/wwdc2026/278/</a:t>
            </a:r>
          </a:p>
          <a:p xmlns:a="http://schemas.openxmlformats.org/drawingml/2006/main">
            <a:r>
              <a:t>https://developer.apple.com/videos/play/wwdc2026/269/</a:t>
            </a:r>
          </a:p>
          <a:p xmlns:a="http://schemas.openxmlformats.org/drawingml/2006/main">
            <a:r>
              <a:t>https://developer.apple.com/videos/play/wwdc2026/8003/</a:t>
            </a:r>
          </a:p>
          <a:p xmlns:a="http://schemas.openxmlformats.org/drawingml/2006/main">
            <a:r>
              <a:t>https://developer.apple.com/videos/play/wwdc2025/306/</a:t>
            </a:r>
          </a:p>
          <a:p xmlns:a="http://schemas.openxmlformats.org/drawingml/2006/main">
            <a:r>
              <a:t>https://developer.apple.com/videos/play/wwdc2025/266/</a:t>
            </a:r>
          </a:p>
          <a:p xmlns:a="http://schemas.openxmlformats.org/drawingml/2006/main">
            <a:r>
              <a:t>https://developer.apple.com/documentation/xcode/understanding-and-improving-swiftui-performance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结束页。演讲者：Somendra。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fcc10128448e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1c4b6506b345e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3b17068a9644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37dc994f2742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da0f9bb8f488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b78b9985d445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fdbf29f3ae473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c0c8a715af4d9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ca444f2764410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daa9e7d4224d6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6124159a9f4c9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392606-1057-407B-811F-4C5F923768A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6372E41-36F5-4778-A8AA-10E485E7997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988532-376D-4D22-B02C-5FCD278204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2FBEB8-7D06-4A8A-B9D1-784E57847E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58D99A6-2297-41ED-A0F7-87D7B2DEFD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18CC32-45BE-4F42-85EE-3FE3C5A3FF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CEBFEB8-4E92-4868-B916-CCD89D5587F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F9F2D5-B297-4C41-9173-327F9AB596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3A9BDFB-9B59-4C78-9EC9-F6F25BD24A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1105ED7-6A91-4243-B3CB-C6C4189D08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C141E5-A077-427C-82C0-9FFBDE1EC42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34B1B5D-EA1C-4260-9036-9B7FE13159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153FC2-3D75-4256-AAF7-E29AEE2CB1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540A82-6109-4EEA-B028-B83837AC27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88709D3-4205-4766-827B-68DB7C69BBB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369327-E9E5-4176-AFEF-4F2B777D6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1306406-5BA2-4B2C-8544-258677D9CC6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642A6B-E5BA-4437-AC2E-F57844ADF9A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3C14A2D-FB9A-48E9-9165-8E02F466C9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FD77684-6AC6-471B-97D3-5C0876E412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E08C6B-99BC-4811-8434-112A8EE8F59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DB207E-5161-4648-A5FE-B806B81C74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3F2BD1A-0B76-40AA-81E9-3C7A0507AD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9F59AAB-8E8B-433B-A544-F5816445325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3B55A00-D1D1-4B5E-8EA9-9934E47C5B6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9DC2CDD9-701A-471F-B95F-F004D0D4EB7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12D988E-BB62-4FE6-A6F5-2F81D0F2B0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6C84C73C-F390-4EBA-84DB-D1E05FE2A6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479EA4F-1C61-4265-9B17-8BC56FD60F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A0474D5-B13C-43DD-BC52-570D26D14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DCB0D14-16FE-464D-B61A-DF827C7811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DEC6752-CB7A-4986-BBEA-38C912D2DF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2D3E207-31FA-45D5-B5FA-5C1DA031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3367E9D-D427-4EEA-92F7-C459D31D7F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A2FBBF7-5EB1-48B9-B354-FEBE659343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81D512C-8E47-49AD-8016-B33DD9055F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97C29FF-CAC1-40CF-A690-7AEFA2BC76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596D2A4-2B64-4DEA-8F97-BEEB0AF6BB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32BD98-A2CD-41D8-9A1E-AFBAA916F7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61985F1-175B-4C46-9329-5DE1215C45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E7EAED8-A750-440C-B31E-91D2A2214EE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6E5171-80FE-4078-8508-C56E99A99C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052429-3029-4F14-B7E5-BB9079BB3A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7BAA58D-14B4-4BA5-BB5D-CF9752B7247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79A5061-4A4A-4F1A-8CCD-AE96675F80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8F7B23-98B0-4292-AAD1-6E0D652BD5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AA75E47-F030-4B63-911E-5477EAC03C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0FEDE1-AB9B-4A2E-989D-277D0DC960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188AFC-42EE-405D-89C6-9C902B5FCD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56D698-2488-4A9F-92B6-222429FC5C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6E8C6E-4A0D-4340-9294-CABC62FDD3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3231C1D-A372-45E4-9B1A-5D4D0F8A05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8201FF-5348-426F-AD1C-AFADE65FB9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4303E00-9DB0-4C7B-9EFA-8FB67E1394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BA4520E-F7C7-4C0F-BB59-F27FB09CE4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D3EFB92-C3DE-44EF-8266-CC1F584B8A2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7D173A-703E-4499-BACF-26E561E1BE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DCFE47E-8D4E-4D3A-B050-7AEE4A79C7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805f7e232544dc" /><Relationship Type="http://schemas.openxmlformats.org/officeDocument/2006/relationships/slideLayout" Target="/ppt/slideLayouts/slideLayout1.xml" Id="R4bac7d2f0f854d13" /><Relationship Type="http://schemas.openxmlformats.org/officeDocument/2006/relationships/slideLayout" Target="/ppt/slideLayouts/slideLayout2.xml" Id="Rc42eba553db94b18" /><Relationship Type="http://schemas.openxmlformats.org/officeDocument/2006/relationships/slideLayout" Target="/ppt/slideLayouts/slideLayout3.xml" Id="R7f5e18928ffd4a05" /><Relationship Type="http://schemas.openxmlformats.org/officeDocument/2006/relationships/slideLayout" Target="/ppt/slideLayouts/slideLayout4.xml" Id="R0894681798e54f2a" /><Relationship Type="http://schemas.openxmlformats.org/officeDocument/2006/relationships/slideLayout" Target="/ppt/slideLayouts/slideLayout5.xml" Id="R70dbc0d76ed54369" /><Relationship Type="http://schemas.openxmlformats.org/officeDocument/2006/relationships/slideLayout" Target="/ppt/slideLayouts/slideLayout6.xml" Id="Rc61c34369326444e" /><Relationship Type="http://schemas.openxmlformats.org/officeDocument/2006/relationships/slideLayout" Target="/ppt/slideLayouts/slideLayout7.xml" Id="Re321235add664f72" /><Relationship Type="http://schemas.openxmlformats.org/officeDocument/2006/relationships/slideLayout" Target="/ppt/slideLayouts/slideLayout8.xml" Id="R9ef3f32237fd44cd" /><Relationship Type="http://schemas.openxmlformats.org/officeDocument/2006/relationships/slideLayout" Target="/ppt/slideLayouts/slideLayout9.xml" Id="R7273035b43cb4618" /><Relationship Type="http://schemas.openxmlformats.org/officeDocument/2006/relationships/slideLayout" Target="/ppt/slideLayouts/slideLayout10.xml" Id="Rca58862af6ae46fb" /><Relationship Type="http://schemas.openxmlformats.org/officeDocument/2006/relationships/slideLayout" Target="/ppt/slideLayouts/slideLayout11.xml" Id="R022d4244dbc44ca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036D6B2-76B7-4293-9787-C8EB4C4DD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8576325-20A8-4A29-B7BC-9BA080F743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2A2C56-A06B-41F4-A7C8-63AF9875165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E269FA-500B-48D9-B6D0-AF5D467913A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4DA5C5-1BF5-405B-8FB0-2100B62F2D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ac7d2f0f854d13"/>
    <p:sldLayoutId xmlns:r="http://schemas.openxmlformats.org/officeDocument/2006/relationships" id="2147483650" r:id="Rc42eba553db94b18"/>
    <p:sldLayoutId xmlns:r="http://schemas.openxmlformats.org/officeDocument/2006/relationships" id="2147483651" r:id="R7f5e18928ffd4a05"/>
    <p:sldLayoutId xmlns:r="http://schemas.openxmlformats.org/officeDocument/2006/relationships" id="2147483652" r:id="R0894681798e54f2a"/>
    <p:sldLayoutId xmlns:r="http://schemas.openxmlformats.org/officeDocument/2006/relationships" id="2147483653" r:id="R70dbc0d76ed54369"/>
    <p:sldLayoutId xmlns:r="http://schemas.openxmlformats.org/officeDocument/2006/relationships" id="2147483654" r:id="Rc61c34369326444e"/>
    <p:sldLayoutId xmlns:r="http://schemas.openxmlformats.org/officeDocument/2006/relationships" id="2147483655" r:id="Re321235add664f72"/>
    <p:sldLayoutId xmlns:r="http://schemas.openxmlformats.org/officeDocument/2006/relationships" id="2147483656" r:id="R9ef3f32237fd44cd"/>
    <p:sldLayoutId xmlns:r="http://schemas.openxmlformats.org/officeDocument/2006/relationships" id="2147483657" r:id="R7273035b43cb4618"/>
    <p:sldLayoutId xmlns:r="http://schemas.openxmlformats.org/officeDocument/2006/relationships" id="2147483658" r:id="Rca58862af6ae46fb"/>
    <p:sldLayoutId xmlns:r="http://schemas.openxmlformats.org/officeDocument/2006/relationships" id="2147483659" r:id="R022d4244dbc44caf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d75db260654084" /><Relationship Type="http://schemas.openxmlformats.org/officeDocument/2006/relationships/notesSlide" Target="/ppt/notesSlides/notesSlide1.xml" Id="R291148dd0ba04e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4176d1f244e24" /><Relationship Type="http://schemas.openxmlformats.org/officeDocument/2006/relationships/image" Target="/ppt/media/image.png" Id="Rd4889675fca04f42" /><Relationship Type="http://schemas.openxmlformats.org/officeDocument/2006/relationships/image" Target="/ppt/media/image2.png" Id="Rfba89faefe654294" /><Relationship Type="http://schemas.openxmlformats.org/officeDocument/2006/relationships/notesSlide" Target="/ppt/notesSlides/notesSlide2.xml" Id="R4246baa536cc41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59d16149f4af4" /><Relationship Type="http://schemas.openxmlformats.org/officeDocument/2006/relationships/image" Target="/ppt/media/image3.png" Id="R5c2a23d34e18428f" /><Relationship Type="http://schemas.openxmlformats.org/officeDocument/2006/relationships/image" Target="/ppt/media/image4.png" Id="Ra14bfba73ce245ad" /><Relationship Type="http://schemas.openxmlformats.org/officeDocument/2006/relationships/notesSlide" Target="/ppt/notesSlides/notesSlide3.xml" Id="R83e10d9f72834d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ae7c5d6784d32" /><Relationship Type="http://schemas.openxmlformats.org/officeDocument/2006/relationships/image" Target="/ppt/media/image5.png" Id="R4dd94e86dbc44598" /><Relationship Type="http://schemas.openxmlformats.org/officeDocument/2006/relationships/image" Target="/ppt/media/image6.png" Id="Rf3210de854054931" /><Relationship Type="http://schemas.openxmlformats.org/officeDocument/2006/relationships/notesSlide" Target="/ppt/notesSlides/notesSlide4.xml" Id="R0f9fe4be70e847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ea2261b264dea" /><Relationship Type="http://schemas.openxmlformats.org/officeDocument/2006/relationships/image" Target="/ppt/media/image7.png" Id="Rbf786c5ba178421e" /><Relationship Type="http://schemas.openxmlformats.org/officeDocument/2006/relationships/notesSlide" Target="/ppt/notesSlides/notesSlide5.xml" Id="R59c265fff67b4e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f34f4e24d44bee" /><Relationship Type="http://schemas.openxmlformats.org/officeDocument/2006/relationships/image" Target="/ppt/media/image8.png" Id="Rcf42a20c4fae4b5e" /><Relationship Type="http://schemas.openxmlformats.org/officeDocument/2006/relationships/notesSlide" Target="/ppt/notesSlides/notesSlide6.xml" Id="Rde05e5d912a24a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5c54977fd40b4" /><Relationship Type="http://schemas.openxmlformats.org/officeDocument/2006/relationships/image" Target="/ppt/media/image9.png" Id="R32758676df7a4fa8" /><Relationship Type="http://schemas.openxmlformats.org/officeDocument/2006/relationships/notesSlide" Target="/ppt/notesSlides/notesSlide7.xml" Id="Rc96e564de7964e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c86e56c344b4c" /><Relationship Type="http://schemas.openxmlformats.org/officeDocument/2006/relationships/image" Target="/ppt/media/image10.png" Id="R0994b40bdfc14d5c" /><Relationship Type="http://schemas.openxmlformats.org/officeDocument/2006/relationships/notesSlide" Target="/ppt/notesSlides/notesSlide8.xml" Id="R348cf996366f4bb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33d362f0747ec" /><Relationship Type="http://schemas.openxmlformats.org/officeDocument/2006/relationships/image" Target="/ppt/media/image11.png" Id="Re23b54ba727643f3" /><Relationship Type="http://schemas.openxmlformats.org/officeDocument/2006/relationships/notesSlide" Target="/ppt/notesSlides/notesSlide9.xml" Id="R4ca17c37b64149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7a51f76a5741e7" /><Relationship Type="http://schemas.openxmlformats.org/officeDocument/2006/relationships/image" Target="/ppt/media/image12.png" Id="R1653b123bf3d48e9" /><Relationship Type="http://schemas.openxmlformats.org/officeDocument/2006/relationships/notesSlide" Target="/ppt/notesSlides/notesSlide10.xml" Id="R535d781b1d74473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72fc81f334927" /><Relationship Type="http://schemas.openxmlformats.org/officeDocument/2006/relationships/image" Target="/ppt/media/image13.png" Id="Ra344852adb7548de" /><Relationship Type="http://schemas.openxmlformats.org/officeDocument/2006/relationships/image" Target="/ppt/media/image14.png" Id="Rc86f47aeb8e34765" /><Relationship Type="http://schemas.openxmlformats.org/officeDocument/2006/relationships/notesSlide" Target="/ppt/notesSlides/notesSlide11.xml" Id="R88e8939d506543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9611348cd4113" /><Relationship Type="http://schemas.openxmlformats.org/officeDocument/2006/relationships/image" Target="/ppt/media/image15.png" Id="R48652218c74e4615" /><Relationship Type="http://schemas.openxmlformats.org/officeDocument/2006/relationships/notesSlide" Target="/ppt/notesSlides/notesSlide12.xml" Id="R48822ef07ecc43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9b87ada7749c3" /><Relationship Type="http://schemas.openxmlformats.org/officeDocument/2006/relationships/image" Target="/ppt/media/image16.png" Id="R22805eebc65043fa" /><Relationship Type="http://schemas.openxmlformats.org/officeDocument/2006/relationships/notesSlide" Target="/ppt/notesSlides/notesSlide13.xml" Id="R00e6a481211c41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e6b8c93784e36" /><Relationship Type="http://schemas.openxmlformats.org/officeDocument/2006/relationships/image" Target="/ppt/media/image17.png" Id="R6408ca59d98a4203" /><Relationship Type="http://schemas.openxmlformats.org/officeDocument/2006/relationships/notesSlide" Target="/ppt/notesSlides/notesSlide14.xml" Id="R4739ee3d61984a9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23ca810b4a4fb3" /><Relationship Type="http://schemas.openxmlformats.org/officeDocument/2006/relationships/image" Target="/ppt/media/image18.png" Id="R89aa1ad06ab640b2" /><Relationship Type="http://schemas.openxmlformats.org/officeDocument/2006/relationships/notesSlide" Target="/ppt/notesSlides/notesSlide15.xml" Id="Rdb4ae266203b443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bb0b97d9b4150" /><Relationship Type="http://schemas.openxmlformats.org/officeDocument/2006/relationships/notesSlide" Target="/ppt/notesSlides/notesSlide16.xml" Id="R615d833c5e06494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7dc1c6e754440" /><Relationship Type="http://schemas.openxmlformats.org/officeDocument/2006/relationships/notesSlide" Target="/ppt/notesSlides/notesSlide17.xml" Id="R2591b07538204a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D25EF-ADDA-4F6F-8BC3-2BD8794AC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100584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6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iPhone Duo</a:t>
            </a:r>
          </a:p>
          <a:p xmlns:a="http://schemas.openxmlformats.org/drawingml/2006/main">
            <a:pPr>
              <a:buNone/>
              <a:defRPr sz="46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自适应布局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911982-35B9-4733-9F80-0DD1D7C0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200400"/>
            <a:ext cx="100107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 SwiftUI 和 UIKit 适配现有应用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A5C893-DB92-4664-9034-D2B7E1A0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210050"/>
            <a:ext cx="10010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5B4EE5"/>
                </a:solidFill>
                <a:latin typeface="Arial"/>
                <a:ea typeface="Arial"/>
                <a:cs typeface="Arial"/>
              </a:rPr>
              <a:t>Somendra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D8628-A934-4F3B-9F23-A637EA41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238750"/>
            <a:ext cx="100107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让布局适应变化的屏幕，</a:t>
            </a:r>
          </a:p>
          <a:p xmlns:a="http://schemas.openxmlformats.org/drawingml/2006/main">
            <a:pPr>
              <a:buNone/>
              <a:defRPr sz="18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同时保持内容、控件和状态一致。</a:t>
            </a:r>
          </a:p>
        </p:txBody>
      </p:sp>
    </p:spTree>
    <p:extLst>
      <p:ext uri="{BB962C8B-B14F-4D97-AF65-F5344CB8AC3E}">
        <p14:creationId xmlns:p14="http://schemas.microsoft.com/office/powerpoint/2010/main" val="985095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4E7EAB-382E-495B-A8F7-ACBFE50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iPhone Duo 自适应布局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01224F-2435-4665-AE19-53516D25C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855EB-7C56-409C-939C-34F2E1BD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 SwiftUI 和 UIKit API 调整现有应用的布局，保持用户任务的连续性。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732D94-3326-4281-87D5-7CAB442D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BDCDD-8143-4989-AF0B-A32C5B9B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266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项目：窄布局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7F2EBA-88A2-4871-9BD5-5FA8B62E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47800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项目：宽布局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2A9A30-0BF0-4AFB-B1C8-88AF8FF4B8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89675fca04f42"/>
          <a:srcRect xmlns:a="http://schemas.openxmlformats.org/drawingml/2006/main" l="0" t="13916" r="0" b="25049"/>
          <a:stretch xmlns:a="http://schemas.openxmlformats.org/drawingml/2006/main"/>
        </p:blipFill>
        <p:spPr>
          <a:xfrm xmlns:a="http://schemas.openxmlformats.org/drawingml/2006/main">
            <a:off x="590550" y="1926194"/>
            <a:ext cx="2667000" cy="3539013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CFA497-2A9D-43CF-A419-A3A658D39A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a89faefe654294"/>
          <a:srcRect xmlns:a="http://schemas.openxmlformats.org/drawingml/2006/main" l="0" t="0" r="0" b="50658"/>
          <a:stretch xmlns:a="http://schemas.openxmlformats.org/drawingml/2006/main"/>
        </p:blipFill>
        <p:spPr>
          <a:xfrm xmlns:a="http://schemas.openxmlformats.org/drawingml/2006/main">
            <a:off x="3524250" y="2035091"/>
            <a:ext cx="5048250" cy="3321217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72D599-824B-45BF-9534-E6D8C0B8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43100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布局问题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E3F57-4481-489B-82DD-845ED0BF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0"/>
            <a:ext cx="27051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窗口变化时，固定行布局和屏幕假设会导致问题。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3429E-BE5F-42D2-AA43-E24C4C8D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43325"/>
            <a:ext cx="2705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目标行为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7C37F-F55A-4138-8A45-A47AAA1A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81475"/>
            <a:ext cx="27051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控件始终可访问。内容重新排列。选择和数据保持不变。</a:t>
            </a:r>
          </a:p>
        </p:txBody>
      </p:sp>
    </p:spTree>
    <p:extLst>
      <p:ext uri="{BB962C8B-B14F-4D97-AF65-F5344CB8AC3E}">
        <p14:creationId xmlns:p14="http://schemas.microsoft.com/office/powerpoint/2010/main" val="10941384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2F456-7C1B-4789-8244-9C551AC0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窗口几何与 Size Class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3FDEB-4164-47B3-8D1C-1EE04A55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0BA45-56D9-4EB5-875C-C16BBDBC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GeometryReader 需要 iOS 13+，AnyLayout 需要 iOS 16+。布局依据来自当前窗口。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B1A5F6-99CD-402E-B187-6253AB6D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FDD2C-A87E-46A8-930F-DE877155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SwiftUI：局部宽度决定内容适配规则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4F13-964C-4967-8C50-DF34B587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93E9F-9468-4936-876D-E93EB4F1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GeometryReader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size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width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&gt;= </a:t>
            </a:r>
            <a:r>
              <a:rPr sz="165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600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? 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AnyLayout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HStackLayout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65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16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: 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AnyLayout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VStackLayout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65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16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layout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SummaryCard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ProgressCard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C6805-1CAF-48E9-ABA2-6A401228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66103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600 pt 是示例内容阈值。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Size Class 描述当前窗口。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AnyLayout 保留子视图身份。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F7864-FB70-45F6-8A29-58572AE9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Apple：窗口的两个轴向均可变化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B64979-DDCB-4099-8CE6-00EA7CBEDC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a23d34e18428f"/>
          <a:srcRect xmlns:a="http://schemas.openxmlformats.org/drawingml/2006/main" l="4492" t="13860" r="7764" b="1116"/>
          <a:stretch xmlns:a="http://schemas.openxmlformats.org/drawingml/2006/main"/>
        </p:blipFill>
        <p:spPr>
          <a:xfrm xmlns:a="http://schemas.openxmlformats.org/drawingml/2006/main">
            <a:off x="8158579" y="1809750"/>
            <a:ext cx="2809041" cy="1428750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F82117-17B6-4677-B6B8-4099294F19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bfba73ce245ad"/>
          <a:srcRect xmlns:a="http://schemas.openxmlformats.org/drawingml/2006/main" l="13184" t="27778" r="7324" b="1515"/>
          <a:stretch xmlns:a="http://schemas.openxmlformats.org/drawingml/2006/main"/>
        </p:blipFill>
        <p:spPr>
          <a:xfrm xmlns:a="http://schemas.openxmlformats.org/drawingml/2006/main">
            <a:off x="7990278" y="3371850"/>
            <a:ext cx="3145645" cy="13525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2E5F4-E7FE-4B7C-8F7F-CDDEDB5A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4076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UIKit：view.bounds 和 traitCollection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仅在需要屏幕时使用：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view.window?.windowScene?.screen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A9CB6-85FF-4885-BFFE-24C02D385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使用局部 bounds 和 Trait。UIRequiresFullScreen 不会阻止展开／闭合引起的尺寸变化。</a:t>
            </a:r>
          </a:p>
        </p:txBody>
      </p:sp>
    </p:spTree>
    <p:extLst>
      <p:ext uri="{BB962C8B-B14F-4D97-AF65-F5344CB8AC3E}">
        <p14:creationId xmlns:p14="http://schemas.microsoft.com/office/powerpoint/2010/main" val="1860886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3E2032-8DE4-44B1-A34A-B720899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原生标签页与可选侧边栏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44600B-C628-428A-AE5A-310FF641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5CD27-D2D1-42D7-AD49-62C35930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Tab 需要 iOS 18+，defaultTabBarPlacement 需要 iOS 27+。不同尺寸下保留相同导航目标。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896C50-57FA-4038-9042-BCF0B5EF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2C54B-5B23-4CC4-A16F-8D60CFFB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581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带侧边栏偏好的原生 TabView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32056-640D-4E78-A192-5669548C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5810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885BA-EDD0-4521-92FD-064E6E92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5429250" cy="382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TabView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selection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$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selectedTab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00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"Workspace"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"square.grid.2x2"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value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AppTab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workspace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workspace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00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"Review"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"checkmark.seal"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value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AppTab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tabViewStyle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sidebarAdaptable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defaultTabBarPlacement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sidebar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2E7A5-79A4-4E6B-AE7D-636872F2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409700"/>
            <a:ext cx="483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Apple：显示屏边缘的标签栏</a:t>
            </a:r>
          </a:p>
        </p:txBody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A86E79-C55D-4E5B-B665-A38E2B459D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d94e86dbc44598"/>
          <a:srcRect xmlns:a="http://schemas.openxmlformats.org/drawingml/2006/main" l="2344" t="4357" r="2051" b="830"/>
          <a:stretch xmlns:a="http://schemas.openxmlformats.org/drawingml/2006/main"/>
        </p:blipFill>
        <p:spPr>
          <a:xfrm xmlns:a="http://schemas.openxmlformats.org/drawingml/2006/main">
            <a:off x="7264053" y="1809750"/>
            <a:ext cx="3836095" cy="1790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58CEA-25D7-434D-AB17-FB8618B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4838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Apple：可选侧边栏导航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3AF038-F7EE-4D26-8E10-AEA362A22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210de854054931"/>
          <a:srcRect xmlns:a="http://schemas.openxmlformats.org/drawingml/2006/main" l="13930" t="14753" r="11443" b="33413"/>
          <a:stretch xmlns:a="http://schemas.openxmlformats.org/drawingml/2006/main"/>
        </p:blipFill>
        <p:spPr>
          <a:xfrm xmlns:a="http://schemas.openxmlformats.org/drawingml/2006/main">
            <a:off x="7269773" y="4257675"/>
            <a:ext cx="3824654" cy="1657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B46EBA-D3A2-4F30-879A-9764B276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实验室包含标签页／侧边栏会话及对应 UIKit 示例。iOS 17 保留原生 tabItem 回退。</a:t>
            </a:r>
          </a:p>
        </p:txBody>
      </p:sp>
    </p:spTree>
    <p:extLst>
      <p:ext uri="{BB962C8B-B14F-4D97-AF65-F5344CB8AC3E}">
        <p14:creationId xmlns:p14="http://schemas.microsoft.com/office/powerpoint/2010/main" val="2022775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960B7-C95D-4498-8126-9129C08C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NavigationSplitView 保留导航层级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0AB9A-9788-413A-A88E-FE2D4D89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45165B-47EF-49BB-A3D6-DDE342D8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16+。窗口紧凑时，原生导航折叠为栈。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2EA4B-B0D4-46C6-805F-A69A958E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C92BA1-C274-4258-A419-0957708E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RootView：现有侧边栏与详情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66788B-104F-4E83-A798-5DBF34274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AA727-286D-4F74-92EC-94F65712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NavigationSplitView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List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selection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$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selectedCategory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ForEach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WorkCategory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allCases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NavigationLink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value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Label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rawValue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symbol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detail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workspaceDetail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01DDC-2812-4F1B-9A7A-2655DCCA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66103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UIKit 对应容器：UISplitViewController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在备选布局上层管理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选择状态和共享数据。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5B589-E946-4426-B121-E740C6EA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项目：侧边栏与工作区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1595D-2771-4B39-AC6D-3CDBA5BE54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86c5ba178421e"/>
          <a:srcRect xmlns:a="http://schemas.openxmlformats.org/drawingml/2006/main" l="0" t="0" r="0" b="53399"/>
          <a:stretch xmlns:a="http://schemas.openxmlformats.org/drawingml/2006/main"/>
        </p:blipFill>
        <p:spPr>
          <a:xfrm xmlns:a="http://schemas.openxmlformats.org/drawingml/2006/main">
            <a:off x="7524750" y="1881494"/>
            <a:ext cx="4076700" cy="2533037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8BBF4-9D26-4193-A036-F547EE82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3392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UI 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4341F9-5362-46F4-B9A3-475BD9B0A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33975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宽窗口可显示更多层级。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窄窗口通过原生栈导航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保留访问入口。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4A4BBB-DEE1-4B58-B7A7-ABE49EEE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已在 RootView 实现。此图来自较早项目截图，早于最新标签页集成。</a:t>
            </a:r>
          </a:p>
        </p:txBody>
      </p:sp>
    </p:spTree>
    <p:extLst>
      <p:ext uri="{BB962C8B-B14F-4D97-AF65-F5344CB8AC3E}">
        <p14:creationId xmlns:p14="http://schemas.microsoft.com/office/powerpoint/2010/main" val="17158146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A82B8B-A954-40AF-8A4A-CA2F7DC80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安全区域使控件避开系统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7ED7D-FAA8-4ABB-AE92-45D746E5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8F7D1-4CC5-49A5-8E7F-FB5ADF56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前景内容遵循各侧边距。装饰性背景可延伸到系统栏后方。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EB03E-90BD-4AB4-BF2F-E41C4548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33202-BC0F-4DD8-8C49-E94E25A5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SwiftUI：分离背景与内容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9556F-962F-4AD0-B362-959EE972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DDB8F-EF60-4090-8E60-A3799A00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2867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ZStack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Color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blue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opacity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0.12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ignoresSafeArea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container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ScrollView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alignment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leading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16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WorkspaceControls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RecordCards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padding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666777-A6D3-4F16-A1F5-5D5AA369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6610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UIKit：约束到 safeAreaLayoutGuide。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手动布局 frame 时使用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view.bounds.inset(by: view.safeAreaInsets)。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35595-D684-49A1-AF08-778402370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Apple：前景安全区域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952E4-97A8-441B-9377-365290EE3B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2a20c4fae4b5e"/>
          <a:srcRect xmlns:a="http://schemas.openxmlformats.org/drawingml/2006/main" l="64697" t="7656" r="879" b="957"/>
          <a:stretch xmlns:a="http://schemas.openxmlformats.org/drawingml/2006/main"/>
        </p:blipFill>
        <p:spPr>
          <a:xfrm xmlns:a="http://schemas.openxmlformats.org/drawingml/2006/main">
            <a:off x="8508368" y="1809750"/>
            <a:ext cx="2109463" cy="2857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25D12-4030-473E-9A84-9424E299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UI 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19F69-53DA-4EC5-89B6-35625E1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内容避开侧边控件区域。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相对两侧边距可能不同。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测试 Split View 两侧位置。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4BBFE-639D-4092-A315-8F4B983BD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背景已单独使用 ignoresSafeArea。按自定义内容需要修正前景布局。</a:t>
            </a:r>
          </a:p>
        </p:txBody>
      </p:sp>
    </p:spTree>
    <p:extLst>
      <p:ext uri="{BB962C8B-B14F-4D97-AF65-F5344CB8AC3E}">
        <p14:creationId xmlns:p14="http://schemas.microsoft.com/office/powerpoint/2010/main" val="16345287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A2766-527E-4D70-8787-2B8A6726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内容重新排列，避免控件重叠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56CDA-C162-4183-86B3-A22B0329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2794BD-C448-4D5D-BB1B-FA19A296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16+。应用提供备选布局，SwiftUI 选择第一个适合空间的视图。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A4F2C-6C56-4C86-8802-80D089D1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8600DB-68EC-4338-9090-E88A5045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现有应用的顶部布局模式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DCE36-4DBF-4394-87D4-D0F5FA0A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410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4C0B0-6D73-420D-A445-0128DA58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838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ViewThatFits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horizontal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HStack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12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layoutButtons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poseControl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decisionBadge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fixedSize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horizontal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true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vertical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false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alignment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leading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spacing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12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layoutControls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poseControl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decisionBadge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E6A1F7-4BF8-4D57-B9ED-B811F40F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项目：较早版本的拥挤控件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3521E-3969-46F5-B075-B8CD6573E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758676df7a4fa8"/>
          <a:srcRect xmlns:a="http://schemas.openxmlformats.org/drawingml/2006/main" l="51873" t="18059" r="13015" b="48526"/>
          <a:stretch xmlns:a="http://schemas.openxmlformats.org/drawingml/2006/main"/>
        </p:blipFill>
        <p:spPr>
          <a:xfrm xmlns:a="http://schemas.openxmlformats.org/drawingml/2006/main">
            <a:off x="7737767" y="1809750"/>
            <a:ext cx="3650666" cy="2647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CC661B-3320-4952-BBC8-E57FD156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E81EDD-E429-402B-9B51-81394E87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48250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控件可从行排列切换为列排列。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卡片标题沿垂直方向扩展。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辅助功能字号使用单列回退。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08824-F9CC-439E-ADF0-E6260651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源码已修复适配和多行显示，大字号使用单列。此页仍展示修复前截图。</a:t>
            </a:r>
          </a:p>
        </p:txBody>
      </p:sp>
    </p:spTree>
    <p:extLst>
      <p:ext uri="{BB962C8B-B14F-4D97-AF65-F5344CB8AC3E}">
        <p14:creationId xmlns:p14="http://schemas.microsoft.com/office/powerpoint/2010/main" val="5776134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ADE78-2028-417E-B903-CD75AC48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使用 ArrangementView 排列相关内容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0C8EAB-66C7-47F2-AF29-76D684B0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09063-825D-4C06-B28E-D14CE51B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27.1 beta。用于相关内容的排列，与导航层级分别处理。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D4385-18C8-484D-A377-8D4E8D64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8722B0-140A-4DAC-9E55-2F2B68AD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API 实验室模式：精简内容视图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880E9B-1E1D-4B22-B419-7497A5F2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7C7A54-2061-4236-91E8-D2E8A685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ArrangementView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72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RecordList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secondary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72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SummaryView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arrangementViewStyle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split</a:t>
            </a:r>
            <a:r>
              <a:rPr sz="17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11D66-2FF1-41CF-8AC1-71A72FD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6610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主区域包含每条记录。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摘要有独立导航入口。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示例使用分割比例，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并包含独立 Overlay 示例。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8F2C5-20B4-4DA7-A764-92EBE387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 示例：播放器与队列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39033B-B04F-43F6-A780-43AE693DC9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94b40bdfc14d5c"/>
          <a:srcRect xmlns:a="http://schemas.openxmlformats.org/drawingml/2006/main" l="51042" t="20185" r="2500" b="20093"/>
          <a:stretch xmlns:a="http://schemas.openxmlformats.org/drawingml/2006/main"/>
        </p:blipFill>
        <p:spPr>
          <a:xfrm xmlns:a="http://schemas.openxmlformats.org/drawingml/2006/main">
            <a:off x="7639907" y="1809750"/>
            <a:ext cx="3846387" cy="2781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AFB5B2-7727-46E8-89BA-47F2F560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1BFD8-AFCC-40C4-BF0F-D56EC45D7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14950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系统排列相关视图。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次级视图未显示时，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应用仍保留访问入口。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96FD4-A1AB-490F-BEB9-8F7DC8ED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实验室演示原生 Split 和 Overlay 排列。工作区保留独立姿态预览。</a:t>
            </a:r>
          </a:p>
        </p:txBody>
      </p:sp>
    </p:spTree>
    <p:extLst>
      <p:ext uri="{BB962C8B-B14F-4D97-AF65-F5344CB8AC3E}">
        <p14:creationId xmlns:p14="http://schemas.microsoft.com/office/powerpoint/2010/main" val="633759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7BDA9D-EBC9-48AD-A65B-8D461B93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自定义布局中的保留区域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B9E69-93DE-4843-9BCC-3AAEFD31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90AB5-D4E7-4188-915B-81B7BD46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iOS 27.1 beta。查询区域不会自动移动自定义 UI。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24881-5779-4154-8CD5-245FE35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E4221E-0E10-4733-9877-53838FF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API 实验室：局部空间的测量值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802CF-9D8C-4F44-B4C6-4C61F155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EA9C1-16A5-44EA-B558-9811100D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GeometryReader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divisions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reservedRegions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kind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division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options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includeInactive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occlusions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proxy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reservedRegions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kind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occlusion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options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includeInactive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0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RegionInspector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divisions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divisions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filter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$</a:t>
            </a:r>
            <a:r>
              <a:rPr sz="150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isActive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},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occlusions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occlusions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filter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$</a:t>
            </a:r>
            <a:r>
              <a:rPr sz="150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isActive</a:t>
            </a: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AB5707-3813-4B83-8FD1-3C993992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 示意图：相机遮挡区域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C7078D-B00F-470D-B0DF-7EA5B964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5772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D9C5F-EEAB-46D0-8E0D-21D35FE3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57775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生效边框已包含交互边距。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应用代码定位自定义按钮。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原生工具栏保留操作入口。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11368-B18F-4CD3-993E-70940801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实验室包含实时区域检查与控件避让。空区域或未生效区域均为有效结果。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DA393A-BF26-498E-BC86-B3FAE33895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b54ba727643f3"/>
          <a:srcRect xmlns:a="http://schemas.openxmlformats.org/drawingml/2006/main" l="33219" t="31165" r="34050" b="0"/>
          <a:stretch xmlns:a="http://schemas.openxmlformats.org/drawingml/2006/main"/>
        </p:blipFill>
        <p:spPr>
          <a:xfrm xmlns:a="http://schemas.openxmlformats.org/drawingml/2006/main">
            <a:off x="8436663" y="1809750"/>
            <a:ext cx="2252875" cy="2562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914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60BC2F-4D00-4B5F-853D-8A04331D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同心圆角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3DB24-7F7B-480F-BFEF-6CAD7BCC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2C161-E3E3-48FF-BEE3-DB457389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ConcentricRectangle 和 UICornerConfiguration 从 iOS 26 提供。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885C9-6340-481A-A2F1-E779DB6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2F4E8-801E-4113-A07A-D46A772C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 形状与 UIKit 视图配置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ADDD5-3012-488A-9BD0-E3FD0DA8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2828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9CE84-23B5-4FDF-8751-B27A6150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2562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// SwiftUI decorative background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ConcentricRectangle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fill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Color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green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padding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650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8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ignoresSafeArea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// UIKit view configuration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myView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cornerConfiguration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corners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radius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containerConcentric</a:t>
            </a: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B59D20-7017-486B-A352-1D1FF7E2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661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 iOS 26 可用性检查。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支持较早系统时，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保留兼容圆角形状回退。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18327-4398-4261-BE3C-D4E3D500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 示例：同心圆角细节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247FA4-A22B-43A8-A6F5-0B660586C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936B1E-63BC-4D27-BBBA-ED2CE2A8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曲线随容器调整。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单一硬编码圆角半径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无法适配所有容器屏幕形状。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706227-D4D0-4182-99A8-068B6129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实验室提供 SwiftUI 和 UIKit 圆角对比。调整内边距，比较同心圆角与固定圆角。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2B31BB-E821-46EB-A92D-2BBD0E7E629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3b123bf3d48e9"/>
          <a:srcRect xmlns:a="http://schemas.openxmlformats.org/drawingml/2006/main" l="48828" t="34759" r="15283" b="0"/>
          <a:stretch xmlns:a="http://schemas.openxmlformats.org/drawingml/2006/main"/>
        </p:blipFill>
        <p:spPr>
          <a:xfrm xmlns:a="http://schemas.openxmlformats.org/drawingml/2006/main">
            <a:off x="8099802" y="1809750"/>
            <a:ext cx="2926595" cy="2914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20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B1C11-00ED-4A5B-A4B3-81683DBD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原生工具栏操作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4975D2-A9C4-4BC8-9073-3CBBD887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358460-A2EA-4311-AECC-3D4280B8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cancellationAction 需要 iOS 14+，topBarPinnedTrailing 需要 iOS 27。保留旧系统位置回退。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08EFF-BEBA-42EB-991C-CA6E8FF3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BF24B-987F-4164-AAD5-E7BAF089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SwiftUI：具有语义的工具栏位置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224BD-4127-4C8E-89AB-2F5DE500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CBA17-1317-475B-8DFD-9FF91B41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019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toolbar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placement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cancellationAction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"Close"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"xmark"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dismiss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placement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topBarPinnedTrailing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"Send"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"arrow.up"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send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938A9-4039-4669-BAE8-8D2BD529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6610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UIKit：leadingItemGroups 用于关闭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pinnedTrailingGroup 用于醒目操作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D3346-F106-4670-83F4-97780F1E1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Apple：关闭与醒目操作</a:t>
            </a:r>
          </a:p>
        </p:txBody>
      </p:sp>
      <p:pic>
        <p:nvPic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138E6-1174-4856-9025-45030CBAC0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4852adb7548de"/>
          <a:srcRect xmlns:a="http://schemas.openxmlformats.org/drawingml/2006/main" l="92041" t="13529" r="977" b="50426"/>
          <a:stretch xmlns:a="http://schemas.openxmlformats.org/drawingml/2006/main"/>
        </p:blipFill>
        <p:spPr>
          <a:xfrm xmlns:a="http://schemas.openxmlformats.org/drawingml/2006/main">
            <a:off x="7941000" y="1857375"/>
            <a:ext cx="1072500" cy="2857500"/>
          </a:xfrm>
          <a:prstGeom xmlns:a="http://schemas.openxmlformats.org/drawingml/2006/main" prst="rect">
            <a:avLst/>
          </a:prstGeom>
        </p:spPr>
      </p:pic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CC7178-3999-40B8-842A-243A86CB67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f47aeb8e34765"/>
          <a:srcRect xmlns:a="http://schemas.openxmlformats.org/drawingml/2006/main" l="91797" t="12705" r="977" b="50241"/>
          <a:stretch xmlns:a="http://schemas.openxmlformats.org/drawingml/2006/main"/>
        </p:blipFill>
        <p:spPr>
          <a:xfrm xmlns:a="http://schemas.openxmlformats.org/drawingml/2006/main">
            <a:off x="10099716" y="1857375"/>
            <a:ext cx="1098468" cy="28575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D2A07-1815-4F1D-9D4D-17954C79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3870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关闭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A1CBC-B03E-40FA-9860-C6747101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83870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醒目操作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B88D0-BD88-433E-9FEE-1FA6E7CA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95900"/>
            <a:ext cx="4076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容器适配工具栏。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位置描述操作的角色。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保留标题和可执行操作。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B9426-0199-433D-B2AC-B1823CF3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SwiftUI 和 UIKit 工具栏示例使用真实操作、原生容器和语义位置。</a:t>
            </a:r>
          </a:p>
        </p:txBody>
      </p:sp>
    </p:spTree>
    <p:extLst>
      <p:ext uri="{BB962C8B-B14F-4D97-AF65-F5344CB8AC3E}">
        <p14:creationId xmlns:p14="http://schemas.microsoft.com/office/powerpoint/2010/main" val="12282777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3BEA1-406B-4389-8C29-EFD39B9FE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溢出优先级与压缩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AC724-FDAD-4522-8457-FF610D9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77865-B346-4851-B63C-E9CD2851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visibilityPriority 和 ToolbarOverflowMenu 需要 iOS 27。压缩偏好需要 iOS 27.1 beta。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174A1-348C-47BE-9B84-947550EF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3188B4-4CA2-4DDA-9524-826B8ECC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API 实验室：优先级、溢出与压缩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F8C4C-2BA1-4DA1-9171-CA79D478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2F225-3E39-47F3-BC6F-F8FF02B1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686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toolbar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ToolbarItem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"Review"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"checkmark"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visibilityPriority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high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ToolbarOverflowMenu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"Export report"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export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"Reset preview"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action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reset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toolbarVerticalCompressionBehavior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prefersToolbarItems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ED6D5-33CA-4C6B-A846-620EACD4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Apple：统一的系统溢出菜单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78C29B-0D0B-4991-AC24-DE8C13448A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52218c74e4615"/>
          <a:srcRect xmlns:a="http://schemas.openxmlformats.org/drawingml/2006/main" l="82829" t="27746" r="908" b="1927"/>
          <a:stretch xmlns:a="http://schemas.openxmlformats.org/drawingml/2006/main"/>
        </p:blipFill>
        <p:spPr>
          <a:xfrm xmlns:a="http://schemas.openxmlformats.org/drawingml/2006/main">
            <a:off x="9156330" y="1809750"/>
            <a:ext cx="813539" cy="27622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E5733-7C01-49BA-A67F-886FB74D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81550"/>
            <a:ext cx="407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优先级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F490C-2B1C-4707-A54F-172CD68D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05400"/>
            <a:ext cx="4076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高优先级使操作延后进入溢出菜单。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2C707-1158-4B5B-A430-731B710A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95925"/>
            <a:ext cx="4076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压缩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BFE93D-574B-4752-B26F-D2C27F37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1025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此偏好优先压缩标签栏。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06849-ED69-4825-9D9B-109E6598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实验室可选择优先级和压缩偏好，系统溢出菜单中的操作可实际执行。</a:t>
            </a:r>
          </a:p>
        </p:txBody>
      </p:sp>
    </p:spTree>
    <p:extLst>
      <p:ext uri="{BB962C8B-B14F-4D97-AF65-F5344CB8AC3E}">
        <p14:creationId xmlns:p14="http://schemas.microsoft.com/office/powerpoint/2010/main" val="15213756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022B8-2D67-497E-A2E1-5AF79EB9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垂直工具栏中的自定义控件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9D17C-8EF3-4A77-9ED8-8951C933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078C3D-4A2A-4AA4-AD36-6012D02F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toolbarVerticalEdge 和 UIKit verticalBarEdge 需要 iOS 27.1 beta。使用可用性及 SDK 检查。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B217F-C178-4690-BFE4-7B93E7E7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BD313-8534-4850-95B6-991AF3A9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SwiftUI：保留标题的紧凑呈现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B1B7F-0E0B-4A4E-9110-4BE3D95C8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D3F75-BA2D-4B4D-8EFE-8BF47108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171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struct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ReviewControl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@Environment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(\.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toolbarVerticalEdge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private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edge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let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() -&gt;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Void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body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some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action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edge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!=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nil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Label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388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"Review"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"checkmark"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    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labelStyle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iconOnly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} </a:t>
            </a:r>
            <a:r>
              <a:rPr sz="1388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Label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388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"Review"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systemImage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"checkmark"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        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labelStyle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titleAndIcon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F9DEF-0016-4DF1-81FE-C7DB8D81D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53050"/>
            <a:ext cx="6610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8449E-BEF2-4D80-BC66-B6D5A9D3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05450"/>
            <a:ext cx="622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ToolbarItem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 </a:t>
            </a:r>
            <a:r>
              <a:rPr sz="1388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ReviewControl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review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388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axisBehavior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(.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verticalPreferred</a:t>
            </a:r>
            <a:r>
              <a:rPr sz="1388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A8EDB5-0B5E-45C3-9CAC-B525DDEB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Apple：不同工具栏背景</a:t>
            </a:r>
          </a:p>
        </p:txBody>
      </p:sp>
      <p:pic>
        <p:nvPic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F25367-2EB8-484F-AA55-AC3067F62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05eebc65043fa"/>
          <a:srcRect xmlns:a="http://schemas.openxmlformats.org/drawingml/2006/main" l="13086" t="7771" r="6836" b="2904"/>
          <a:stretch xmlns:a="http://schemas.openxmlformats.org/drawingml/2006/main"/>
        </p:blipFill>
        <p:spPr>
          <a:xfrm xmlns:a="http://schemas.openxmlformats.org/drawingml/2006/main">
            <a:off x="7957691" y="1809750"/>
            <a:ext cx="3210817" cy="2047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BA1E27-C4A1-4D34-9E86-E5ED9669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UIKit 对应 Trait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0B620-8155-4280-BEFC-73F8D009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19600"/>
            <a:ext cx="40767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399E5-4A8B-4FDF-939C-15B4A835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3695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traitCollection</a:t>
            </a:r>
            <a:r>
              <a:rPr sz="14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42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verticalBarEdge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547B2-C05D-4093-AA81-F5BFA458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76850"/>
            <a:ext cx="4076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隐藏时也可能存在首选边缘。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检查 Reduce Transparency 下的可读性。</a:t>
            </a:r>
          </a:p>
          <a:p xmlns:a="http://schemas.openxmlformats.org/drawingml/2006/main">
            <a:pPr>
              <a:buNone/>
              <a:defRPr sz="15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为辅助功能保留标题。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31617-4C3E-4D8A-815D-F67E6395A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实验室比较自定义控件轴向和首选边缘适配。内容中仍保留操作入口。</a:t>
            </a:r>
          </a:p>
        </p:txBody>
      </p:sp>
    </p:spTree>
    <p:extLst>
      <p:ext uri="{BB962C8B-B14F-4D97-AF65-F5344CB8AC3E}">
        <p14:creationId xmlns:p14="http://schemas.microsoft.com/office/powerpoint/2010/main" val="8483707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AFC0A-1146-4762-B5A1-D9E99A55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自适应 Sheet 与呈现方式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2F744-F925-4931-A59C-F3549DC77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9FDEC-552D-4059-A9D0-4E8DB150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sheet 需要 iOS 13+。此模式中的 NavigationStack 和 presentationDetents 需要 iOS 16+。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FA72E-7C02-4F6B-B52E-622F96EE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3E3EE0-0C52-4149-9509-B657FF92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61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共享父视图状态的原生 Sheet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5EE8F3-9431-4A39-8D1E-4070A9EF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6103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92F73-4240-48E5-AD23-6101FBDE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2293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@State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private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var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showsAudit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false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/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9AA9BC"/>
                </a:solidFill>
                <a:latin typeface="DejaVu Sans Mono"/>
                <a:ea typeface="DejaVu Sans Mono"/>
                <a:cs typeface="DejaVu Sans Mono"/>
              </a:rPr>
              <a:t>// Inside the presenting view's body: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Button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"Layout Review"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showsAudit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=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true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sheet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isPresented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$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showsAudit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NavigationStack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ReviewContent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navigationTitle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"Layout Review"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presentationDetents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([.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medium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.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large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])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36F601-0AF3-4089-A955-559BD429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95925"/>
            <a:ext cx="66103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实验室包含带 Detent 的可编辑 Sheet。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调整窗口大小时，父视图保留草稿。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216F9-9B9A-4A15-B518-87D74DF9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09700"/>
            <a:ext cx="4076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Apple：Sheet 避开折叠处</a:t>
            </a:r>
          </a:p>
        </p:txBody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A2F24F-A814-4576-95D6-705E14885A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8ca59d98a4203"/>
          <a:srcRect xmlns:a="http://schemas.openxmlformats.org/drawingml/2006/main" l="20833" t="8889" r="20625" b="8889"/>
          <a:stretch xmlns:a="http://schemas.openxmlformats.org/drawingml/2006/main"/>
        </p:blipFill>
        <p:spPr>
          <a:xfrm xmlns:a="http://schemas.openxmlformats.org/drawingml/2006/main">
            <a:off x="7802863" y="1809750"/>
            <a:ext cx="3520474" cy="2781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6CB12-0387-40DA-AE48-613C20869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48225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变化效果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2A6EA-F3B1-4989-8A2A-47B3B2E4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48275"/>
            <a:ext cx="40767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系统定位 Sheet 和工具栏。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自定义控件仍需适配空间。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滚动内容可跨越折叠处。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9F7C7-BF68-409F-B312-EDC032BF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API 实验室也包含 Popover、Alert 和操作菜单。工具栏示例比较垂直工具栏偏好。</a:t>
            </a:r>
          </a:p>
        </p:txBody>
      </p:sp>
    </p:spTree>
    <p:extLst>
      <p:ext uri="{BB962C8B-B14F-4D97-AF65-F5344CB8AC3E}">
        <p14:creationId xmlns:p14="http://schemas.microsoft.com/office/powerpoint/2010/main" val="20897017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FE084C-1DCD-480B-BA37-BDE73323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Xcode 27.1 中的 App Resizability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113111-8B23-4120-9264-BCED47CC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21594-628F-4EB3-B23D-668F842B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Apple 的编程 skill 辅助 Agent 更新整个现有项目的源码。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0495A-62BB-4E09-BC91-7BEB4EA4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7277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Apple 示例：替换全局屏幕假设</a:t>
            </a:r>
          </a:p>
        </p:txBody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20B292-120E-4201-9348-820C68F5E5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a1ad06ab640b2"/>
          <a:stretch xmlns:a="http://schemas.openxmlformats.org/drawingml/2006/main"/>
        </p:blipFill>
        <p:spPr>
          <a:xfrm xmlns:a="http://schemas.openxmlformats.org/drawingml/2006/main">
            <a:off x="590550" y="1871651"/>
            <a:ext cx="7277100" cy="355856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D67EF-10D3-413B-9827-7D651838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24000"/>
            <a:ext cx="335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1. 检查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7DE7E-7300-4588-A48E-2D6B8D2A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33575"/>
            <a:ext cx="335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让 skill 检查窗口调整、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局部几何信息和安全区域。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6DC4A-DE59-488E-ABFB-E8AECC8D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35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2. 审阅修改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D212B-07C5-41FF-8FA4-F31558BA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57575"/>
            <a:ext cx="335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在 diff 中检查状态归属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和旧系统回退。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DBE33-D987-4668-80B2-EC370C8D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72000"/>
            <a:ext cx="335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3. 构建并调整大小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FA4E91-6C8F-438E-96BE-E3E99894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81575"/>
            <a:ext cx="335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在普通 iPhone 和 Duo 上</a:t>
            </a:r>
          </a:p>
          <a:p xmlns:a="http://schemas.openxmlformats.org/drawingml/2006/main">
            <a:pPr>
              <a:buNone/>
              <a:defRPr sz="17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验证更新后的 UI。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5FBA3F-49EF-470C-BABB-3969CD4B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72771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1D24A-3930-400F-845D-8982D601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6972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let screenScale = traitCollection.displayScale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0848A-456B-46CE-9923-E86D0993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19825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skill 在开发阶段编辑源码。应用运行时，由原生容器处理适配。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F904A-897A-4F20-8B81-CDE55A41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845304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BEBA38-4160-4357-A495-7D2ACCF9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现有应用迁移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38ADF-996D-4379-BC35-9810E40F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4EE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A8A78-0853-44D4-AEF7-82F88178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800100"/>
            <a:ext cx="985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8 个 API 实验室交互示例位于同一应用。保留构建兼容性，并验证各运行环境。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D8754-FC3E-4027-BCCE-5A0E76D1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77000"/>
            <a:ext cx="628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6E7891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E789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ECAC2-9D8A-42B7-985C-7958E84E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638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源码修改与构建兼容性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2D610-E87B-437F-92B6-5323F93E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3817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72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19C9C-F1F1-4B11-A1F0-53AE8F81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0007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#if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DUO_SDK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if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#available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iOS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</a:t>
            </a:r>
            <a:r>
              <a:rPr sz="1575">
                <a:solidFill>
                  <a:srgbClr val="B8D7A3"/>
                </a:solidFill>
                <a:latin typeface="DejaVu Sans Mono"/>
                <a:ea typeface="DejaVu Sans Mono"/>
                <a:cs typeface="DejaVu Sans Mono"/>
              </a:rPr>
              <a:t>27.1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*)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86D8DD"/>
                </a:solidFill>
                <a:latin typeface="DejaVu Sans Mono"/>
                <a:ea typeface="DejaVu Sans Mono"/>
                <a:cs typeface="DejaVu Sans Mono"/>
              </a:rPr>
              <a:t>NativeArrangementContent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items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category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category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 </a:t>
            </a: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else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{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fallback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"Requires iOS 27.1"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#else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fallback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(</a:t>
            </a:r>
            <a:r>
              <a:rPr sz="1575">
                <a:solidFill>
                  <a:srgbClr val="F3B98D"/>
                </a:solidFill>
                <a:latin typeface="DejaVu Sans Mono"/>
                <a:ea typeface="DejaVu Sans Mono"/>
                <a:cs typeface="DejaVu Sans Mono"/>
              </a:rPr>
              <a:t>"Use the baseline layout"</a:t>
            </a:r>
            <a:r>
              <a:rPr sz="1575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rPr>
              <a:t>)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EDF0F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>
                <a:solidFill>
                  <a:srgbClr val="EFA8EB"/>
                </a:solidFill>
                <a:latin typeface="DejaVu Sans Mono"/>
                <a:ea typeface="DejaVu Sans Mono"/>
                <a:cs typeface="DejaVu Sans Mono"/>
              </a:rPr>
              <a:t>#endif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03AB2-5DB2-401D-882D-47C56C2E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63817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 iOS 17 支持和共享 SwiftData。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使用 App Resizability 审查各页面。</a:t>
            </a:r>
          </a:p>
          <a:p xmlns:a="http://schemas.openxmlformats.org/drawingml/2006/main">
            <a:pPr>
              <a:buNone/>
              <a:defRPr sz="180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构建基础与原生两条路径。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6CDE7A-2FBE-47E4-88C0-887C2813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409700"/>
            <a:ext cx="4191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5B4EE5"/>
                </a:solidFill>
                <a:latin typeface="Arial"/>
                <a:ea typeface="Arial"/>
                <a:cs typeface="Arial"/>
              </a:rPr>
              <a:t>窗口变化时的验证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E8E20-8FD9-45B0-8AD7-258F65E5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9145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状态连续性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0D5A9-8A44-4FDD-AAF0-2C3DF128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145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保留相同的选择、草稿和记录。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避免用 .id(width) 重置身份。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1B2C4-9227-4989-AE0C-D31F4836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布局与辅助功能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EB5930-B8D8-4808-A5B1-A447DFD9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8617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展开、闭合、旋转和多任务。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测试大字号、溢出菜单和两侧边缘。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7B1C90-BE1F-4430-94B1-B6050724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57725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性能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14865-BEF4-4B3B-9941-7F3018C4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57775"/>
            <a:ext cx="4191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保持 body 低开销。使用 Instruments</a:t>
            </a:r>
          </a:p>
          <a:p xmlns:a="http://schemas.openxmlformats.org/drawingml/2006/main">
            <a:pPr>
              <a:buNone/>
              <a:defRPr sz="16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和真实数据分析过渡。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AC857-EE7D-46D5-9C5F-6EB2446A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10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当前版本已通过 Xcode 构建及现有测试。真机能力与完整场景仍需验证。</a:t>
            </a:r>
          </a:p>
        </p:txBody>
      </p:sp>
    </p:spTree>
    <p:extLst>
      <p:ext uri="{BB962C8B-B14F-4D97-AF65-F5344CB8AC3E}">
        <p14:creationId xmlns:p14="http://schemas.microsoft.com/office/powerpoint/2010/main" val="3287313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1FB3E4-6BC0-46F2-B775-0F01E9E54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550" b="1">
                <a:solidFill>
                  <a:srgbClr val="10172A"/>
                </a:solidFill>
                <a:latin typeface="Arial"/>
                <a:ea typeface="Arial"/>
                <a:cs typeface="Arial"/>
              </a:defRPr>
            </a:pPr>
            <a:r>
              <a:rPr sz="5550" b="1">
                <a:solidFill>
                  <a:srgbClr val="10172A"/>
                </a:solidFill>
                <a:latin typeface="Arial"/>
                <a:ea typeface="Arial"/>
                <a:cs typeface="Arial"/>
              </a:rPr>
              <a:t>谢谢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8158C-01F8-4159-85E2-7029061A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562350"/>
            <a:ext cx="10010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550" b="0">
                <a:solidFill>
                  <a:srgbClr val="5B4EE5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B4EE5"/>
                </a:solidFill>
                <a:latin typeface="Arial"/>
                <a:ea typeface="Arial"/>
                <a:cs typeface="Arial"/>
              </a:rPr>
              <a:t>Somendra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8720A-E653-4992-917B-CCB0A58F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333875"/>
            <a:ext cx="10010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46516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6516B"/>
                </a:solidFill>
                <a:latin typeface="Arial"/>
                <a:ea typeface="Arial"/>
                <a:cs typeface="Arial"/>
              </a:rPr>
              <a:t>iPhone Duo 自适应布局</a:t>
            </a:r>
          </a:p>
        </p:txBody>
      </p:sp>
    </p:spTree>
    <p:extLst>
      <p:ext uri="{BB962C8B-B14F-4D97-AF65-F5344CB8AC3E}">
        <p14:creationId xmlns:p14="http://schemas.microsoft.com/office/powerpoint/2010/main" val="58359279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2026-10-12T04:11:53.2850000Z</dcterms:created>
  <dcterms:modified xsi:type="dcterms:W3CDTF">2026-10-12T04:11:53.2850000Z</dcterms:modified>
</coreProperties>
</file>