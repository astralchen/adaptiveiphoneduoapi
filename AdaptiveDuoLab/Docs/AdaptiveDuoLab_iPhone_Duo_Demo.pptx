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f2b99755e8c4686" /><Relationship Type="http://schemas.openxmlformats.org/officeDocument/2006/relationships/extended-properties" Target="/docProps/app.xml" Id="Rfc20b9053c354bde" /><Relationship Type="http://schemas.openxmlformats.org/officeDocument/2006/relationships/officeDocument" Target="/ppt/presentation.xml" Id="R43fc7e58df52442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49a2516336844a1"/>
  </p:sldMasterIdLst>
  <p:notesMasterIdLst>
    <p:notesMasterId xmlns:r="http://schemas.openxmlformats.org/officeDocument/2006/relationships" r:id="Rf3563b27d5684fe3"/>
  </p:notesMasterIdLst>
  <p:sldIdLst>
    <p:sldId xmlns:r="http://schemas.openxmlformats.org/officeDocument/2006/relationships" id="256" r:id="R1df5d8f59daa419b"/>
    <p:sldId xmlns:r="http://schemas.openxmlformats.org/officeDocument/2006/relationships" id="257" r:id="R9b43b10140da4e63"/>
    <p:sldId xmlns:r="http://schemas.openxmlformats.org/officeDocument/2006/relationships" id="258" r:id="R173791ab742c4ac8"/>
    <p:sldId xmlns:r="http://schemas.openxmlformats.org/officeDocument/2006/relationships" id="259" r:id="Ra9a8607a1a354346"/>
    <p:sldId xmlns:r="http://schemas.openxmlformats.org/officeDocument/2006/relationships" id="260" r:id="Rfb9b3470dc1347e5"/>
    <p:sldId xmlns:r="http://schemas.openxmlformats.org/officeDocument/2006/relationships" id="261" r:id="R38155d7f4ae04232"/>
    <p:sldId xmlns:r="http://schemas.openxmlformats.org/officeDocument/2006/relationships" id="262" r:id="R745e0c4cd41a4f87"/>
    <p:sldId xmlns:r="http://schemas.openxmlformats.org/officeDocument/2006/relationships" id="263" r:id="Re2eb45ef55aa48c9"/>
    <p:sldId xmlns:r="http://schemas.openxmlformats.org/officeDocument/2006/relationships" id="264" r:id="R62672421aa9147bc"/>
    <p:sldId xmlns:r="http://schemas.openxmlformats.org/officeDocument/2006/relationships" id="265" r:id="Ra9032c8f9d9f4177"/>
    <p:sldId xmlns:r="http://schemas.openxmlformats.org/officeDocument/2006/relationships" id="266" r:id="R397f09226abf404b"/>
    <p:sldId xmlns:r="http://schemas.openxmlformats.org/officeDocument/2006/relationships" id="267" r:id="R6e737c7932454988"/>
    <p:sldId xmlns:r="http://schemas.openxmlformats.org/officeDocument/2006/relationships" id="268" r:id="R574ac94eac154f5b"/>
    <p:sldId xmlns:r="http://schemas.openxmlformats.org/officeDocument/2006/relationships" id="269" r:id="Rc253ab01ed484f88"/>
    <p:sldId xmlns:r="http://schemas.openxmlformats.org/officeDocument/2006/relationships" id="270" r:id="R1866a39154f343ed"/>
    <p:sldId xmlns:r="http://schemas.openxmlformats.org/officeDocument/2006/relationships" id="271" r:id="R91c3804313ec4d50"/>
    <p:sldId xmlns:r="http://schemas.openxmlformats.org/officeDocument/2006/relationships" id="272" r:id="R9b6b12b9e5c94f04"/>
  </p:sldIdLst>
  <p:sldSz cx="12191695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d55939653f24094" /><Relationship Type="http://schemas.openxmlformats.org/officeDocument/2006/relationships/slideMaster" Target="/ppt/slideMasters/slideMaster1.xml" Id="Ra49a2516336844a1" /><Relationship Type="http://schemas.openxmlformats.org/officeDocument/2006/relationships/notesMaster" Target="/ppt/notesMasters/notesMaster1.xml" Id="Rf3563b27d5684fe3" /><Relationship Type="http://schemas.openxmlformats.org/officeDocument/2006/relationships/presProps" Target="/ppt/presProps.xml" Id="Rf06541233f3f4286" /><Relationship Type="http://schemas.openxmlformats.org/officeDocument/2006/relationships/viewProps" Target="/ppt/viewProps.xml" Id="Rf91945de0791431b" /><Relationship Type="http://schemas.openxmlformats.org/officeDocument/2006/relationships/tableStyles" Target="/ppt/tableStyles.xml" Id="R3ff81e3a3d0d4127" /><Relationship Type="http://schemas.openxmlformats.org/officeDocument/2006/relationships/slide" Target="/ppt/slides/slide1.xml" Id="R1df5d8f59daa419b" /><Relationship Type="http://schemas.openxmlformats.org/officeDocument/2006/relationships/slide" Target="/ppt/slides/slide2.xml" Id="R9b43b10140da4e63" /><Relationship Type="http://schemas.openxmlformats.org/officeDocument/2006/relationships/slide" Target="/ppt/slides/slide3.xml" Id="R173791ab742c4ac8" /><Relationship Type="http://schemas.openxmlformats.org/officeDocument/2006/relationships/slide" Target="/ppt/slides/slide4.xml" Id="Ra9a8607a1a354346" /><Relationship Type="http://schemas.openxmlformats.org/officeDocument/2006/relationships/slide" Target="/ppt/slides/slide5.xml" Id="Rfb9b3470dc1347e5" /><Relationship Type="http://schemas.openxmlformats.org/officeDocument/2006/relationships/slide" Target="/ppt/slides/slide6.xml" Id="R38155d7f4ae04232" /><Relationship Type="http://schemas.openxmlformats.org/officeDocument/2006/relationships/slide" Target="/ppt/slides/slide7.xml" Id="R745e0c4cd41a4f87" /><Relationship Type="http://schemas.openxmlformats.org/officeDocument/2006/relationships/slide" Target="/ppt/slides/slide8.xml" Id="Re2eb45ef55aa48c9" /><Relationship Type="http://schemas.openxmlformats.org/officeDocument/2006/relationships/slide" Target="/ppt/slides/slide9.xml" Id="R62672421aa9147bc" /><Relationship Type="http://schemas.openxmlformats.org/officeDocument/2006/relationships/slide" Target="/ppt/slides/slide10.xml" Id="Ra9032c8f9d9f4177" /><Relationship Type="http://schemas.openxmlformats.org/officeDocument/2006/relationships/slide" Target="/ppt/slides/slide11.xml" Id="R397f09226abf404b" /><Relationship Type="http://schemas.openxmlformats.org/officeDocument/2006/relationships/slide" Target="/ppt/slides/slide12.xml" Id="R6e737c7932454988" /><Relationship Type="http://schemas.openxmlformats.org/officeDocument/2006/relationships/slide" Target="/ppt/slides/slide13.xml" Id="R574ac94eac154f5b" /><Relationship Type="http://schemas.openxmlformats.org/officeDocument/2006/relationships/slide" Target="/ppt/slides/slide14.xml" Id="Rc253ab01ed484f88" /><Relationship Type="http://schemas.openxmlformats.org/officeDocument/2006/relationships/slide" Target="/ppt/slides/slide15.xml" Id="R1866a39154f343ed" /><Relationship Type="http://schemas.openxmlformats.org/officeDocument/2006/relationships/slide" Target="/ppt/slides/slide16.xml" Id="R91c3804313ec4d50" /><Relationship Type="http://schemas.openxmlformats.org/officeDocument/2006/relationships/slide" Target="/ppt/slides/slide17.xml" Id="R9b6b12b9e5c94f0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ef2b35f76e34e2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3706508d1944ac9" /><Relationship Type="http://schemas.openxmlformats.org/officeDocument/2006/relationships/notesMaster" Target="/ppt/notesMasters/notesMaster1.xml" Id="R6f6a80fbc011401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3ea2e0aa3be4541" /><Relationship Type="http://schemas.openxmlformats.org/officeDocument/2006/relationships/notesMaster" Target="/ppt/notesMasters/notesMaster1.xml" Id="R184790fc54284f7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407a7afa7574a20" /><Relationship Type="http://schemas.openxmlformats.org/officeDocument/2006/relationships/notesMaster" Target="/ppt/notesMasters/notesMaster1.xml" Id="R6a4252729a62463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4432ceafb6a4084" /><Relationship Type="http://schemas.openxmlformats.org/officeDocument/2006/relationships/notesMaster" Target="/ppt/notesMasters/notesMaster1.xml" Id="R3ab1f7e91ef943c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7d9ccc41f284f5e" /><Relationship Type="http://schemas.openxmlformats.org/officeDocument/2006/relationships/notesMaster" Target="/ppt/notesMasters/notesMaster1.xml" Id="R6c83fd8c038e478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626200da07046a1" /><Relationship Type="http://schemas.openxmlformats.org/officeDocument/2006/relationships/notesMaster" Target="/ppt/notesMasters/notesMaster1.xml" Id="R2cfa72bc69b646c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c0e4183ef4d4ce7" /><Relationship Type="http://schemas.openxmlformats.org/officeDocument/2006/relationships/notesMaster" Target="/ppt/notesMasters/notesMaster1.xml" Id="Rfbeb4924df2240b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c941aa6f9784750" /><Relationship Type="http://schemas.openxmlformats.org/officeDocument/2006/relationships/notesMaster" Target="/ppt/notesMasters/notesMaster1.xml" Id="R482b248dd17b416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1f7e303abbc4223" /><Relationship Type="http://schemas.openxmlformats.org/officeDocument/2006/relationships/notesMaster" Target="/ppt/notesMasters/notesMaster1.xml" Id="R16d9144bf752466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1e33a2b2679407a" /><Relationship Type="http://schemas.openxmlformats.org/officeDocument/2006/relationships/notesMaster" Target="/ppt/notesMasters/notesMaster1.xml" Id="Rfd8745b9e0f14a1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353e719fcdf44a7" /><Relationship Type="http://schemas.openxmlformats.org/officeDocument/2006/relationships/notesMaster" Target="/ppt/notesMasters/notesMaster1.xml" Id="Rfa7b4ce6c6544a8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7d298a87a1c4426" /><Relationship Type="http://schemas.openxmlformats.org/officeDocument/2006/relationships/notesMaster" Target="/ppt/notesMasters/notesMaster1.xml" Id="Re43fb26bfd334ef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6b995ee4f534bb2" /><Relationship Type="http://schemas.openxmlformats.org/officeDocument/2006/relationships/notesMaster" Target="/ppt/notesMasters/notesMaster1.xml" Id="Re21fa182152d46c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fe3d067fb744e6e" /><Relationship Type="http://schemas.openxmlformats.org/officeDocument/2006/relationships/notesMaster" Target="/ppt/notesMasters/notesMaster1.xml" Id="Rb6be4413cf22497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91ae0fbd61f44d9" /><Relationship Type="http://schemas.openxmlformats.org/officeDocument/2006/relationships/notesMaster" Target="/ppt/notesMasters/notesMaster1.xml" Id="R55e6d6de199a4bd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75112c8bfba4278" /><Relationship Type="http://schemas.openxmlformats.org/officeDocument/2006/relationships/notesMaster" Target="/ppt/notesMasters/notesMaster1.xml" Id="R44e9e88c2e6244c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599ff50b0c14b7c" /><Relationship Type="http://schemas.openxmlformats.org/officeDocument/2006/relationships/notesMaster" Target="/ppt/notesMasters/notesMaster1.xml" Id="Rdc1e51e616fe42b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开场介绍。演讲者：Somendra。目标：说明如何使用 SwiftUI 和 UIKit，让现有应用适应显示区域和窗口尺寸的变化，同时保留内容、操作可达性和状态。后续页面将 API、代码与 UI 示例对应起来。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这些图片是项目早期的截图：Docs/Screenshots/01_outer_portrait.png 和 02_inner_open.png。应用中的标签表示演示预设，不代表检测到真实硬件。截图展示既有应用的层级和内容，不能证明最新改动已成功运行。当前源码包含原生“工作区”“检查”“设置”标签页及 API Lab，这些早期截图尚未展示这些入口。目标是通过原生导航和有针对性的自定义布局调整，构建一个能够自适应的应用。所有证据链接均保留在讲者备注中，不另设来源或参考资料页。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https://developer.apple.com/videos/play/tech-talks/111466/</a:t>
            </a:r>
          </a:p>
          <a:p xmlns:a="http://schemas.openxmlformats.org/drawingml/2006/main">
            <a:r>
              <a:t>https://developer.apple.com/videos/play/tech-talks/111461/</a:t>
            </a:r>
          </a:p>
          <a:p xmlns:a="http://schemas.openxmlformats.org/drawingml/2006/main">
            <a:r>
              <a:t>https://www.avanderlee.com/swiftui/iphone-duo-simulator/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LayoutAPIDemo.swift 使用 AnyLayout，并在局部宽度和 Dynamic Type 变化时保留标题及完成状态。幻灯片中的 600 pt 阈值仅作示意，实际示例使用 640 pt 作为内容适配规则。UIKitAPIDemo.swift 从局部视图读取 traitCollection.displayScale。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代码片段经过精简。应用提供的 callback 和辅助视图需要相应的外层声明，所列源文件包含完整示例。Apple 参考 UI 用于说明系统行为，项目现有截图展示早期版本。本地已通过 Xcode 27.1 原生构建及 18 项单元测试、7 项 UI 测试，尚未覆盖全部真机和系统交互场景。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https://developer.apple.com/documentation/swiftui/geometryreader</a:t>
            </a:r>
          </a:p>
          <a:p xmlns:a="http://schemas.openxmlformats.org/drawingml/2006/main">
            <a:r>
              <a:t>https://developer.apple.com/documentation/swiftui/anylayout</a:t>
            </a:r>
          </a:p>
          <a:p xmlns:a="http://schemas.openxmlformats.org/drawingml/2006/main">
            <a:r>
              <a:t>https://developer.apple.com/documentation/swiftui/environmentvalues/horizontalsizeclass</a:t>
            </a:r>
          </a:p>
          <a:p xmlns:a="http://schemas.openxmlformats.org/drawingml/2006/main">
            <a:r>
              <a:t>https://developer.apple.com/documentation/swiftui/environmentvalues/verticalsizeclass</a:t>
            </a:r>
          </a:p>
          <a:p xmlns:a="http://schemas.openxmlformats.org/drawingml/2006/main">
            <a:r>
              <a:t>https://developer.apple.com/documentation/uikit/uiscreen/main</a:t>
            </a:r>
          </a:p>
          <a:p xmlns:a="http://schemas.openxmlformats.org/drawingml/2006/main">
            <a:r>
              <a:t>https://developer.apple.com/documentation/uikit/uiwindowscene/screen</a:t>
            </a:r>
          </a:p>
          <a:p xmlns:a="http://schemas.openxmlformats.org/drawingml/2006/main">
            <a:r>
              <a:t>https://developer.apple.com/videos/play/tech-talks/111461/?time=166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TabAPIDemo.swift 提供可交互的全屏标签页会话，包含共享备注状态、sidebarAdaptable、defaultTabBarPlacement（原生编译路径），以及用于 iPad 的 defaultAdaptableTabBarPlacement。UIKitAPIDemo.swift 在单独会话中承载 UITabBarController、sidebar 模式和 preferredPlacement。展示的代码是精简模式，RootView 仍管理主界面的三个目标页面。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代码片段经过精简。应用提供的 callback 和辅助视图需要相应的外层声明，所列源文件包含完整示例。Apple 参考 UI 用于说明系统行为，项目现有截图展示早期版本。本地已通过 Xcode 27.1 原生构建及 18 项单元测试、7 项 UI 测试，尚未覆盖全部真机和系统交互场景。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https://developer.apple.com/documentation/swiftui/tabview</a:t>
            </a:r>
          </a:p>
          <a:p xmlns:a="http://schemas.openxmlformats.org/drawingml/2006/main">
            <a:r>
              <a:t>https://developer.apple.com/documentation/swiftui/tab</a:t>
            </a:r>
          </a:p>
          <a:p xmlns:a="http://schemas.openxmlformats.org/drawingml/2006/main">
            <a:r>
              <a:t>https://developer.apple.com/documentation/swiftui/view/defaulttabbarplacement(_:)</a:t>
            </a:r>
          </a:p>
          <a:p xmlns:a="http://schemas.openxmlformats.org/drawingml/2006/main">
            <a:r>
              <a:t>https://developer.apple.com/documentation/swiftui/tabviewstyle/sidebaradaptable</a:t>
            </a:r>
          </a:p>
          <a:p xmlns:a="http://schemas.openxmlformats.org/drawingml/2006/main">
            <a:r>
              <a:t>https://developer.apple.com/documentation/uikit/uitabbarcontroller/sidebar</a:t>
            </a:r>
          </a:p>
          <a:p xmlns:a="http://schemas.openxmlformats.org/drawingml/2006/main">
            <a:r>
              <a:t>https://developer.apple.com/videos/play/tech-talks/111461/?time=323</a:t>
            </a:r>
          </a:p>
          <a:p xmlns:a="http://schemas.openxmlformats.org/drawingml/2006/main">
            <a:r>
              <a:t>https://developer.apple.com/videos/play/tech-talks/111462/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这段精简代码对应 RootView.workspace。workspaceDetail 代表现有 DashboardView 调用及其 filteredItems 和 bindings。这个辅助名称用于提高可读性，并非新 API，也不是 RootView 中已有的声明。WorkCategory、selectedCategory 和筛选数据均由项目定义。布局变化时保留同一个 SwiftData container 和导航状态。不要仅为附加 toolbar，就在既有 NavigationSplitView 的 detail 外再包一层 NavigationStack。截图裁剪自 Docs/Screenshots/02_inner_open.png。应区分应用之间的 Split View 多任务与应用内部的导航容器。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https://developer.apple.com/documentation/swiftui/navigationsplitview</a:t>
            </a:r>
          </a:p>
          <a:p xmlns:a="http://schemas.openxmlformats.org/drawingml/2006/main">
            <a:r>
              <a:t>https://developer.apple.com/documentation/uikit/uisplitviewcontroller</a:t>
            </a:r>
          </a:p>
          <a:p xmlns:a="http://schemas.openxmlformats.org/drawingml/2006/main">
            <a:r>
              <a:t>https://developer.apple.com/videos/play/tech-talks/111461/?time=301</a:t>
            </a:r>
          </a:p>
          <a:p xmlns:a="http://schemas.openxmlformats.org/drawingml/2006/main">
            <a:br/>
            <a:br/>
            <a:r>
              <a:t>中文示例使用 WorkCategory.title 显示分类名称，rawValue 继续用于持久化和兼容性。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WorkspaceControls 和 RecordCards 是示意性的应用前景视图。SwiftUI 前景默认遵守 safe area，此处的 ignoresSafeArea(.container) 仅作用于装饰性背景颜色。UIKit Auto Layout 应将前景约束到 safeAreaLayoutGuide。手动布局时，在布局过程中设置 foregroundView.frame = view.bounds.inset(by: view.safeAreaInsets)，并设置 backgroundView.frame = view.bounds。计算可用宽度时，不要将单侧 inset 直接乘以二。layout margins 也可能不对称，且与 safe area 不同。SafeAreaInset 可在适用位置添加应用内容，同时保留 inset 约定。需测试旋转、键盘、RTL 以及 Split View 的左右两侧。所用图片是 Apple 参考 UI，背景行为的实现位于 DashboardView。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https://developer.apple.com/documentation/swiftui/view/ignoressafearea(_:edges:)</a:t>
            </a:r>
          </a:p>
          <a:p xmlns:a="http://schemas.openxmlformats.org/drawingml/2006/main">
            <a:r>
              <a:t>https://developer.apple.com/documentation/uikit/uiview/safearealayoutguide</a:t>
            </a:r>
          </a:p>
          <a:p xmlns:a="http://schemas.openxmlformats.org/drawingml/2006/main">
            <a:r>
              <a:t>https://developer.apple.com/documentation/uikit/uiview/safeareainsets</a:t>
            </a:r>
          </a:p>
          <a:p xmlns:a="http://schemas.openxmlformats.org/drawingml/2006/main">
            <a:r>
              <a:t>https://developer.apple.com/videos/play/tech-talks/111461/?time=427</a:t>
            </a:r>
          </a:p>
          <a:p xmlns:a="http://schemas.openxmlformats.org/drawingml/2006/main">
            <a:r>
              <a:t>https://developer.apple.com/videos/play/tech-talks/111466/?time=393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代码精简自 DashboardHeader 的候选布局。WorkItemCard 另外使用支持多行的 fixedSize 展示标题和摘要。layoutButtons、layoutControls、poseControl 和 decisionBadge 是现有视图属性，item 属于 WorkItemCard。实际代码还包含行内 Spacer，以及堆叠布局中的嵌套适配候选。截图展示的是旧版内容压缩问题，不能作为修复后的证据。实际 Dashboard 在较矮窗口中还使用紧凑菜单，AdaptiveLayoutPolicy 提供 accessibility 回退策略。避免对大型视图统一设置 fixedSize，垂直空间不足时应允许滚动。Swift 片段是精简的 ViewBuilder 模式，应用定义的辅助视图和属性在备注中说明，需要放入所属 View 并添加适当的 availability 标注。片段省略了无关 modifier。原始资料中的 27.1 API 处于 beta 阶段，需使用匹配的 SDK。Apple 图片用于说明相应行为，并非本项目的 Simulator 运行截图。</a:t>
            </a:r>
          </a:p>
          <a:p xmlns:a="http://schemas.openxmlformats.org/drawingml/2006/main">
            <a:r>
              <a:t>源码：Sources/Views/DashboardView.swift 和 Sources/Views/WorkItemCard.swift。</a:t>
            </a:r>
          </a:p>
          <a:p xmlns:a="http://schemas.openxmlformats.org/drawingml/2006/main">
            <a:r>
              <a:t>Grid 补充：LazyVGrid 配合 GridItem(.adaptive(minimum: minWidth)) 可根据可读内容宽度确定列数。可使用 @ScaledMetric 定义 minWidth，并在 dynamicTypeSize.isAccessibilitySize 时切换为单列。这是可选接入模式，不是现有策略实现。应用已保留用户明确选择的 List/Grid 模式，详细指南包含对应代码。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https://developer.apple.com/documentation/swiftui/viewthatfits</a:t>
            </a:r>
          </a:p>
          <a:p xmlns:a="http://schemas.openxmlformats.org/drawingml/2006/main">
            <a:r>
              <a:t>https://developer.apple.com/documentation/swiftui/view/fixedsize(horizontal:vertical:)</a:t>
            </a:r>
          </a:p>
          <a:p xmlns:a="http://schemas.openxmlformats.org/drawingml/2006/main">
            <a:r>
              <a:t>https://developer.apple.com/documentation/swiftui/viewthatfits</a:t>
            </a:r>
          </a:p>
          <a:p xmlns:a="http://schemas.openxmlformats.org/drawingml/2006/main">
            <a:r>
              <a:t>https://developer.apple.com/documentation/swiftui/griditem/size-swift.enum/adaptive(minimum:maximum:)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SystemArrangementDemo.swift 包含原生 split axes、splitArrangementLayoutRatio(0.35)、splitArrangementAxis 诊断，以及独立的 overlay arrangement，后者使用 overlayArrangementEdge 和 overlayArrangementZIndex。所有记录均保留在 primary 中。这些是 API Lab 示例，不会自动替代工作区中的姿态预览。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代码片段经过精简。应用提供的 callback 和辅助视图需要相应的外层声明，所列源文件包含完整示例。Apple 参考 UI 用于说明系统行为，项目现有截图展示早期版本。本地已通过 Xcode 27.1 原生构建及 18 项单元测试、7 项 UI 测试，尚未覆盖全部真机和系统交互场景。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https://developer.apple.com/documentation/swiftui/arrangementview</a:t>
            </a:r>
          </a:p>
          <a:p xmlns:a="http://schemas.openxmlformats.org/drawingml/2006/main">
            <a:r>
              <a:t>https://developer.apple.com/documentation/swiftui/view/splitarrangementlayoutratio(_:)</a:t>
            </a:r>
          </a:p>
          <a:p xmlns:a="http://schemas.openxmlformats.org/drawingml/2006/main">
            <a:r>
              <a:t>https://developer.apple.com/documentation/swiftui/overlayarrangementviewstyle</a:t>
            </a:r>
          </a:p>
          <a:p xmlns:a="http://schemas.openxmlformats.org/drawingml/2006/main">
            <a:r>
              <a:t>https://developer.apple.com/videos/play/tech-talks/111463/?time=799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SystemArrangementDemo.swift 除区域检查器外，还提供 NativeRegionAvoidanceDemo。ReservedRegionPlacement.swift 显式计算可容纳控件的矩形，避开当前有效且相交的 division 和 occlusion frame，并保留标准 toolbar 上的“检查”入口。Apple 文档说明 ReservedRegion.frame 已包含交互边距，不应再次扩展。七项专项几何测试已随本地单元测试通过。本页代码展示查询和检查阶段。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代码片段经过精简。应用提供的 callback 和辅助视图需要相应的外层声明，所列源文件包含完整示例。Apple 参考 UI 用于说明系统行为，项目现有截图展示早期版本。本地已通过 Xcode 27.1 原生构建及 18 项单元测试、7 项 UI 测试，尚未覆盖全部真机和系统交互场景。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https://developer.apple.com/documentation/swiftui/geometryproxy/reservedregions(kind:options:layoutdirectionbehavior:)</a:t>
            </a:r>
          </a:p>
          <a:p xmlns:a="http://schemas.openxmlformats.org/drawingml/2006/main">
            <a:r>
              <a:t>https://developer.apple.com/documentation/swiftui/reservedregion</a:t>
            </a:r>
          </a:p>
          <a:p xmlns:a="http://schemas.openxmlformats.org/drawingml/2006/main">
            <a:r>
              <a:t>https://developer.apple.com/videos/play/tech-talks/111463/?time=500</a:t>
            </a:r>
          </a:p>
          <a:p xmlns:a="http://schemas.openxmlformats.org/drawingml/2006/main">
            <a:r>
              <a:t>https://developer.apple.com/videos/play/tech-talks/111466/?time=568</a:t>
            </a:r>
          </a:p>
          <a:p xmlns:a="http://schemas.openxmlformats.org/drawingml/2006/main">
            <a:r>
              <a:t>https://developer.apple.com/videos/play/tech-talks/111461/?time=488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LayoutAPIDemo.swift 将 ConcentricRectangle 放在 RoundedRectangle 容器中，并提供 inset slider。UIKitAPIDemo.swift 使用 UICornerConfiguration，外层为固定圆角，内层为 container-concentric 圆角，同时提供旧版 OS 回退。Apple 截图用于说明系统几何行为，并非本项目最新运行的截图。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代码片段经过精简。应用提供的 callback 和辅助视图需要相应的外层声明，所列源文件包含完整示例。Apple 参考 UI 用于说明系统行为，项目现有截图展示早期版本。本地已通过 Xcode 27.1 原生构建及 18 项单元测试、7 项 UI 测试，尚未覆盖全部真机和系统交互场景。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https://developer.apple.com/documentation/swiftui/concentricrectangle</a:t>
            </a:r>
          </a:p>
          <a:p xmlns:a="http://schemas.openxmlformats.org/drawingml/2006/main">
            <a:r>
              <a:t>https://developer.apple.com/documentation/uikit/uicornerconfiguration-swift.struct</a:t>
            </a:r>
          </a:p>
          <a:p xmlns:a="http://schemas.openxmlformats.org/drawingml/2006/main">
            <a:r>
              <a:t>https://developer.apple.com/documentation/uikit/uicornerconfiguration-swift.struct/corners(radius:)</a:t>
            </a:r>
          </a:p>
          <a:p xmlns:a="http://schemas.openxmlformats.org/drawingml/2006/main">
            <a:r>
              <a:t>https://developer.apple.com/documentation/uikit/uicornerradius-swift.struct/containerconcentric(minimum:)</a:t>
            </a:r>
          </a:p>
          <a:p xmlns:a="http://schemas.openxmlformats.org/drawingml/2006/main">
            <a:r>
              <a:t>https://developer.apple.com/videos/play/tech-talks/111461/?time=274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ToolbarAPIDemo.swift 使用 cancellationAction 和 topBarPinnedTrailing，实现“关闭”和“置顶”操作。UIKitToolbarAPIDemo.swift 使用 leadingItemGroups、trailingItemGroups、pinnedTrailingGroup、toolbarItems 及 UINavigationController.setToolbarHidden(false, animated:false)。图中的“发送” callback 仅作说明，应用实际使用本地“检查”“置顶”“排序”“添加”和“摘要”操作。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代码片段经过精简。应用提供的 callback 和辅助视图需要相应的外层声明，所列源文件包含完整示例。Apple 参考 UI 用于说明系统行为，项目现有截图展示早期版本。本地已通过 Xcode 27.1 原生构建及 18 项单元测试、7 项 UI 测试，尚未覆盖全部真机和系统交互场景。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https://developer.apple.com/documentation/swiftui/toolbaritemplacement/cancellationaction</a:t>
            </a:r>
          </a:p>
          <a:p xmlns:a="http://schemas.openxmlformats.org/drawingml/2006/main">
            <a:r>
              <a:t>https://developer.apple.com/documentation/swiftui/toolbaritemplacement/topbarpinnedtrailing</a:t>
            </a:r>
          </a:p>
          <a:p xmlns:a="http://schemas.openxmlformats.org/drawingml/2006/main">
            <a:r>
              <a:t>https://developer.apple.com/documentation/uikit/uinavigationitem/leadingitemgroups</a:t>
            </a:r>
          </a:p>
          <a:p xmlns:a="http://schemas.openxmlformats.org/drawingml/2006/main">
            <a:r>
              <a:t>https://developer.apple.com/documentation/uikit/uinavigationitem/pinnedtrailinggroup</a:t>
            </a:r>
          </a:p>
          <a:p xmlns:a="http://schemas.openxmlformats.org/drawingml/2006/main">
            <a:r>
              <a:t>https://developer.apple.com/documentation/uikit/uinavigationitem/leftitemssupplementbackbutton</a:t>
            </a:r>
          </a:p>
          <a:p xmlns:a="http://schemas.openxmlformats.org/drawingml/2006/main">
            <a:r>
              <a:t>https://developer.apple.com/videos/play/tech-talks/111462/?time=300</a:t>
            </a:r>
          </a:p>
          <a:p xmlns:a="http://schemas.openxmlformats.org/drawingml/2006/main">
            <a:r>
              <a:t>https://developer.apple.com/videos/play/tech-talks/111462/?time=324</a:t>
            </a:r>
          </a:p>
          <a:p xmlns:a="http://schemas.openxmlformats.org/drawingml/2006/main">
            <a:r>
              <a:t>https://developer.apple.com/videos/play/tech-talks/111462/?time=144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ToolbarAPIDemo.swift 调用 ToolbarOverflowMenu、visibilityPriority 和 toolbarVerticalCompressionBehavior。打开原生会话前选择偏好，可观察原生 tabs 与操作项之间的空间分配。UIKitToolbarAPIDemo.swift 展示 visibilityPriority、verticalBarCompressionBehavior，以及通过 UIDeferredMenuElement.uncached 提供的 additionalOverflowItems。幻灯片中的 callback 用于解释配置，可执行的 Lab 操作只修改本地记录，不会导出或重置用户数据。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代码片段经过精简。应用提供的 callback 和辅助视图需要相应的外层声明，所列源文件包含完整示例。Apple 参考 UI 用于说明系统行为，项目现有截图展示早期版本。本地已通过 Xcode 27.1 原生构建及 18 项单元测试、7 项 UI 测试，尚未覆盖全部真机和系统交互场景。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https://developer.apple.com/documentation/swiftui/toolbarcontent/visibilitypriority(_:)</a:t>
            </a:r>
          </a:p>
          <a:p xmlns:a="http://schemas.openxmlformats.org/drawingml/2006/main">
            <a:r>
              <a:t>https://developer.apple.com/documentation/swiftui/toolbaroverflowmenu</a:t>
            </a:r>
          </a:p>
          <a:p xmlns:a="http://schemas.openxmlformats.org/drawingml/2006/main">
            <a:r>
              <a:t>https://developer.apple.com/documentation/swiftui/view/toolbarverticalcompressionbehavior(_:)</a:t>
            </a:r>
          </a:p>
          <a:p xmlns:a="http://schemas.openxmlformats.org/drawingml/2006/main">
            <a:r>
              <a:t>https://developer.apple.com/documentation/swiftui/toolbarverticalcompressionbehavior/preferstoolbaritems</a:t>
            </a:r>
          </a:p>
          <a:p xmlns:a="http://schemas.openxmlformats.org/drawingml/2006/main">
            <a:r>
              <a:t>https://developer.apple.com/documentation/uikit/uibarbuttonitem/visibilitypriority</a:t>
            </a:r>
          </a:p>
          <a:p xmlns:a="http://schemas.openxmlformats.org/drawingml/2006/main">
            <a:r>
              <a:t>https://developer.apple.com/documentation/uikit/uinavigationitem/verticalbarcompressionbehavior</a:t>
            </a:r>
          </a:p>
          <a:p xmlns:a="http://schemas.openxmlformats.org/drawingml/2006/main">
            <a:r>
              <a:t>https://developer.apple.com/documentation/uikit/uinavigationitem/additionaloverflowitems</a:t>
            </a:r>
          </a:p>
          <a:p xmlns:a="http://schemas.openxmlformats.org/drawingml/2006/main">
            <a:r>
              <a:t>https://developer.apple.com/videos/play/tech-talks/111462/?time=700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ToolbarAPIDemo.swift 调用 axisBehavior、读取 toolbarVerticalEdge，并将自定义“检查”控件切换为紧凑形式。会话启动时可选择 toolbar 的垂直显示和最小化偏好。UIKitToolbarAPIDemo.swift 使用 UIBarButtonItem.axisBehavior 和 traitCollection.verticalBarEdge。edge 表示受支持的首选上下文，不代表当前可见性。所有操作都保留内容区域中的访问入口。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代码片段经过精简。应用提供的 callback 和辅助视图需要相应的外层声明，所列源文件包含完整示例。Apple 参考 UI 用于说明系统行为，项目现有截图展示早期版本。本地已通过 Xcode 27.1 原生构建及 18 项单元测试、7 项 UI 测试，尚未覆盖全部真机和系统交互场景。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https://developer.apple.com/documentation/swiftui/environmentvalues/toolbarverticaledge</a:t>
            </a:r>
          </a:p>
          <a:p xmlns:a="http://schemas.openxmlformats.org/drawingml/2006/main">
            <a:r>
              <a:t>https://developer.apple.com/documentation/swiftui/toolbarcontent/axisbehavior(_:)</a:t>
            </a:r>
          </a:p>
          <a:p xmlns:a="http://schemas.openxmlformats.org/drawingml/2006/main">
            <a:r>
              <a:t>https://developer.apple.com/documentation/swiftui/label</a:t>
            </a:r>
          </a:p>
          <a:p xmlns:a="http://schemas.openxmlformats.org/drawingml/2006/main">
            <a:r>
              <a:t>https://developer.apple.com/documentation/uikit/uitraitcollection/verticalbaredge</a:t>
            </a:r>
          </a:p>
          <a:p xmlns:a="http://schemas.openxmlformats.org/drawingml/2006/main">
            <a:r>
              <a:t>https://developer.apple.com/documentation/uikit/uiverticalbaredge</a:t>
            </a:r>
          </a:p>
          <a:p xmlns:a="http://schemas.openxmlformats.org/drawingml/2006/main">
            <a:r>
              <a:t>https://developer.apple.com/videos/play/tech-talks/111462/?time=607</a:t>
            </a:r>
          </a:p>
          <a:p xmlns:a="http://schemas.openxmlformats.org/drawingml/2006/main">
            <a:r>
              <a:t>https://developer.apple.com/videos/play/tech-talks/111462/?time=636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PresentationAPIDemo.swift 提供可操作的 sheet（使用 presentationDetents）、popover、alert 和 menu。草稿状态由发起呈现的视图持有。ToolbarAPIDemo.swift 单独展示 toolbarVerticalBehavior 偏好，实际物理位置由原生系统几何布局决定。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代码片段经过精简。应用提供的 callback 和辅助视图需要相应的外层声明，所列源文件包含完整示例。Apple 参考 UI 用于说明系统行为，项目现有截图展示早期版本。本地已通过 Xcode 27.1 原生构建及 18 项单元测试、7 项 UI 测试，尚未覆盖全部真机和系统交互场景。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https://developer.apple.com/documentation/swiftui/view/sheet(ispresented:ondismiss:content:)</a:t>
            </a:r>
          </a:p>
          <a:p xmlns:a="http://schemas.openxmlformats.org/drawingml/2006/main">
            <a:r>
              <a:t>https://developer.apple.com/documentation/swiftui/view/presentationdetents(_:)</a:t>
            </a:r>
          </a:p>
          <a:p xmlns:a="http://schemas.openxmlformats.org/drawingml/2006/main">
            <a:r>
              <a:t>https://developer.apple.com/documentation/swiftui/view/toolbarverticalbehavior(_:)</a:t>
            </a:r>
          </a:p>
          <a:p xmlns:a="http://schemas.openxmlformats.org/drawingml/2006/main">
            <a:r>
              <a:t>https://developer.apple.com/videos/play/tech-talks/111466/?time=564</a:t>
            </a:r>
          </a:p>
          <a:p xmlns:a="http://schemas.openxmlformats.org/drawingml/2006/main">
            <a:r>
              <a:t>https://developer.apple.com/videos/play/tech-talks/111466/?time=568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Apple 在 Xcode 27.1 中将应用现代化 skill 更名为 App Resizability，并扩展到 SwiftUI 和 iPhone Duo。提供的截图来自 为 iPhone Duo 适配应用，展示在 view/controller 上下文中将 UIScreen.main.scale 替换为 traitCollection.displayScale。这是开发阶段修改源码的工作流，不是 SwiftUI runtime modifier。在 Xcode Coding Assistant 中选择可用的 App Resizability skill，并让它检查 AdaptiveDuoLab.xcworkspace。审阅改动，构建基线与原生路径，再验证尺寸切换。本次未执行 Apple 内置 skill。Docs/Apple_App_Resizability_Workflow.md 提供检查整个 workspace 的提示词和导出指引。</a:t>
            </a:r>
          </a:p>
          <a:p xmlns:a="http://schemas.openxmlformats.org/drawingml/2006/main">
            <a:r>
              <a:t>用户提供的截图：Screenshot 2026-09-26 at 11.15.13 AM.png。幻灯片未标出演讲者姓名。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https://developer.apple.com/videos/play/tech-talks/111461/?time=552</a:t>
            </a:r>
          </a:p>
          <a:p xmlns:a="http://schemas.openxmlformats.org/drawingml/2006/main">
            <a:r>
              <a:t>https://developer.apple.com/videos/play/wwdc2026/278/?time=847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项目包含 25 个 API 目录条目和 8 个交互入口。原有 16 个条目均有源码调用，onHingeChange 有意仅用于诊断，不作为导航触发条件。CameraAPIDemo.swift 包含用户主动开启的后置相机预览，并可通过 sceneAccessory 使用 CameraCaptureAccessory。相机权限和 accessory availability 仍是必要条件。原生路径受 DUO_SDK 和 iOS 27.1 检查控制，目前项目默认启用 DUO_SDK。本地已使用 Xcode 27.1 / iPhone Duo iOS 27.1 Simulator 完成构建，并通过 18 项单元测试和 7 项 UI 测试。这不能替代全部折叠姿态、真机相机、accessory、VoiceOver 及性能验证。本次未执行 Apple 内置 skill。仓库未包含原文引用的 Automation 脚本，不能据此声称已运行这些脚本。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代码片段经过精简。应用提供的 callback 和辅助视图需要相应的外层声明，所列源文件包含完整示例。Apple 参考 UI 用于说明系统行为，项目现有截图展示早期版本。本地已通过 Xcode 27.1 原生构建及 18 项单元测试、7 项 UI 测试，尚未覆盖全部真机和系统交互场景。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参考来源：</a:t>
            </a:r>
          </a:p>
          <a:p xmlns:a="http://schemas.openxmlformats.org/drawingml/2006/main">
            <a:r>
              <a:t>https://developer.apple.com/documentation/swiftui/anylayout</a:t>
            </a:r>
          </a:p>
          <a:p xmlns:a="http://schemas.openxmlformats.org/drawingml/2006/main">
            <a:r>
              <a:t>https://developer.apple.com/documentation/swiftui/view/id(_:)</a:t>
            </a:r>
          </a:p>
          <a:p xmlns:a="http://schemas.openxmlformats.org/drawingml/2006/main">
            <a:r>
              <a:t>https://developer.apple.com/videos/play/tech-talks/111461/?time=552</a:t>
            </a:r>
          </a:p>
          <a:p xmlns:a="http://schemas.openxmlformats.org/drawingml/2006/main">
            <a:r>
              <a:t>https://developer.apple.com/videos/play/wwdc2026/278/</a:t>
            </a:r>
          </a:p>
          <a:p xmlns:a="http://schemas.openxmlformats.org/drawingml/2006/main">
            <a:r>
              <a:t>https://developer.apple.com/videos/play/wwdc2026/269/</a:t>
            </a:r>
          </a:p>
          <a:p xmlns:a="http://schemas.openxmlformats.org/drawingml/2006/main">
            <a:r>
              <a:t>https://developer.apple.com/videos/play/wwdc2026/8003/</a:t>
            </a:r>
          </a:p>
          <a:p xmlns:a="http://schemas.openxmlformats.org/drawingml/2006/main">
            <a:r>
              <a:t>https://developer.apple.com/videos/play/wwdc2025/306/</a:t>
            </a:r>
          </a:p>
          <a:p xmlns:a="http://schemas.openxmlformats.org/drawingml/2006/main">
            <a:r>
              <a:t>https://developer.apple.com/videos/play/wwdc2025/266/</a:t>
            </a:r>
          </a:p>
          <a:p xmlns:a="http://schemas.openxmlformats.org/drawingml/2006/main">
            <a:r>
              <a:t>https://developer.apple.com/documentation/xcode/understanding-and-improving-swiftui-performance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结束页。演讲者：Somendra。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e94c8740bf44e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4b4d9589ab4a4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2281762a5f434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603baf06e3418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d1f1b30365417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2a2bd7f63c4e1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aca08e7b1e4d2a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9a541f86bf46b9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b705c2384545d0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e10c038ca14bb2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7b220eac5b4766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7392606-1057-407B-811F-4C5F923768AB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06372E41-36F5-4778-A8AA-10E485E7997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A988532-376D-4D22-B02C-5FCD2782042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42FBEB8-7D06-4A8A-B9D1-784E57847E0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58D99A6-2297-41ED-A0F7-87D7B2DEFD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818CC32-45BE-4F42-85EE-3FE3C5A3FF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CEBFEB8-4E92-4868-B916-CCD89D5587F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8F9F2D5-B297-4C41-9173-327F9AB596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3A9BDFB-9B59-4C78-9EC9-F6F25BD24AD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1105ED7-6A91-4243-B3CB-C6C4189D081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C141E5-A077-427C-82C0-9FFBDE1EC42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34B1B5D-EA1C-4260-9036-9B7FE13159C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2153FC2-3D75-4256-AAF7-E29AEE2CB1E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B540A82-6109-4EEA-B028-B83837AC27B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88709D3-4205-4766-827B-68DB7C69BBB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1369327-E9E5-4176-AFEF-4F2B777D6A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1306406-5BA2-4B2C-8544-258677D9CC6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9642A6B-E5BA-4437-AC2E-F57844ADF9A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3C14A2D-FB9A-48E9-9165-8E02F466C96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FD77684-6AC6-471B-97D3-5C0876E4122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1E08C6B-99BC-4811-8434-112A8EE8F59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DDB207E-5161-4648-A5FE-B806B81C74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3F2BD1A-0B76-40AA-81E9-3C7A0507ADD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9F59AAB-8E8B-433B-A544-F5816445325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F3B55A00-D1D1-4B5E-8EA9-9934E47C5B6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9DC2CDD9-701A-471F-B95F-F004D0D4EB7A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A12D988E-BB62-4FE6-A6F5-2F81D0F2B00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6C84C73C-F390-4EBA-84DB-D1E05FE2A63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5479EA4F-1C61-4265-9B17-8BC56FD60F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A0474D5-B13C-43DD-BC52-570D26D14C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ADCB0D14-16FE-464D-B61A-DF827C78112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7DEC6752-CB7A-4986-BBEA-38C912D2DF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62D3E207-31FA-45D5-B5FA-5C1DA031C7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33367E9D-D427-4EEA-92F7-C459D31D7F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BA2FBBF7-5EB1-48B9-B354-FEBE6593435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681D512C-8E47-49AD-8016-B33DD9055F7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97C29FF-CAC1-40CF-A690-7AEFA2BC767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596D2A4-2B64-4DEA-8F97-BEEB0AF6BB5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D32BD98-A2CD-41D8-9A1E-AFBAA916F71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61985F1-175B-4C46-9329-5DE1215C45B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E7EAED8-A750-440C-B31E-91D2A2214EE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6E5171-80FE-4078-8508-C56E99A99C4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9052429-3029-4F14-B7E5-BB9079BB3A3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47BAA58D-14B4-4BA5-BB5D-CF9752B72476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979A5061-4A4A-4F1A-8CCD-AE96675F80C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38F7B23-98B0-4292-AAD1-6E0D652BD5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AA75E47-F030-4B63-911E-5477EAC03C5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10FEDE1-AB9B-4A2E-989D-277D0DC9608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3188AFC-42EE-405D-89C6-9C902B5FCD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956D698-2488-4A9F-92B6-222429FC5CB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46E8C6E-4A0D-4340-9294-CABC62FDD38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3231C1D-A372-45E4-9B1A-5D4D0F8A057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D8201FF-5348-426F-AD1C-AFADE65FB9B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14303E00-9DB0-4C7B-9EFA-8FB67E1394A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BA4520E-F7C7-4C0F-BB59-F27FB09CE49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D3EFB92-C3DE-44EF-8266-CC1F584B8A2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87D173A-703E-4499-BACF-26E561E1BE3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DCFE47E-8D4E-4D3A-B050-7AEE4A79C7D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6e3d472e7174d7c" /><Relationship Type="http://schemas.openxmlformats.org/officeDocument/2006/relationships/slideLayout" Target="/ppt/slideLayouts/slideLayout1.xml" Id="Rcfc283d01530429e" /><Relationship Type="http://schemas.openxmlformats.org/officeDocument/2006/relationships/slideLayout" Target="/ppt/slideLayouts/slideLayout2.xml" Id="Rd9610f245e9e4243" /><Relationship Type="http://schemas.openxmlformats.org/officeDocument/2006/relationships/slideLayout" Target="/ppt/slideLayouts/slideLayout3.xml" Id="R59b4af73499d4cd6" /><Relationship Type="http://schemas.openxmlformats.org/officeDocument/2006/relationships/slideLayout" Target="/ppt/slideLayouts/slideLayout4.xml" Id="Rf6671a204f3d4d27" /><Relationship Type="http://schemas.openxmlformats.org/officeDocument/2006/relationships/slideLayout" Target="/ppt/slideLayouts/slideLayout5.xml" Id="Re34d0ab15ec64d99" /><Relationship Type="http://schemas.openxmlformats.org/officeDocument/2006/relationships/slideLayout" Target="/ppt/slideLayouts/slideLayout6.xml" Id="R964151b2abf7493b" /><Relationship Type="http://schemas.openxmlformats.org/officeDocument/2006/relationships/slideLayout" Target="/ppt/slideLayouts/slideLayout7.xml" Id="R8c6d6e0aa28b4a80" /><Relationship Type="http://schemas.openxmlformats.org/officeDocument/2006/relationships/slideLayout" Target="/ppt/slideLayouts/slideLayout8.xml" Id="R2481b58f76df4896" /><Relationship Type="http://schemas.openxmlformats.org/officeDocument/2006/relationships/slideLayout" Target="/ppt/slideLayouts/slideLayout9.xml" Id="R11778fb78a5a4ff5" /><Relationship Type="http://schemas.openxmlformats.org/officeDocument/2006/relationships/slideLayout" Target="/ppt/slideLayouts/slideLayout10.xml" Id="Rd93147f240844479" /><Relationship Type="http://schemas.openxmlformats.org/officeDocument/2006/relationships/slideLayout" Target="/ppt/slideLayouts/slideLayout11.xml" Id="Rf51d01fa18004443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036D6B2-76B7-4293-9787-C8EB4C4DD54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8576325-20A8-4A29-B7BC-9BA080F743E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C2A2C56-A06B-41F4-A7C8-63AF98751655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7E269FA-500B-48D9-B6D0-AF5D467913A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D4DA5C5-1BF5-405B-8FB0-2100B62F2D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fc283d01530429e"/>
    <p:sldLayoutId xmlns:r="http://schemas.openxmlformats.org/officeDocument/2006/relationships" id="2147483650" r:id="Rd9610f245e9e4243"/>
    <p:sldLayoutId xmlns:r="http://schemas.openxmlformats.org/officeDocument/2006/relationships" id="2147483651" r:id="R59b4af73499d4cd6"/>
    <p:sldLayoutId xmlns:r="http://schemas.openxmlformats.org/officeDocument/2006/relationships" id="2147483652" r:id="Rf6671a204f3d4d27"/>
    <p:sldLayoutId xmlns:r="http://schemas.openxmlformats.org/officeDocument/2006/relationships" id="2147483653" r:id="Re34d0ab15ec64d99"/>
    <p:sldLayoutId xmlns:r="http://schemas.openxmlformats.org/officeDocument/2006/relationships" id="2147483654" r:id="R964151b2abf7493b"/>
    <p:sldLayoutId xmlns:r="http://schemas.openxmlformats.org/officeDocument/2006/relationships" id="2147483655" r:id="R8c6d6e0aa28b4a80"/>
    <p:sldLayoutId xmlns:r="http://schemas.openxmlformats.org/officeDocument/2006/relationships" id="2147483656" r:id="R2481b58f76df4896"/>
    <p:sldLayoutId xmlns:r="http://schemas.openxmlformats.org/officeDocument/2006/relationships" id="2147483657" r:id="R11778fb78a5a4ff5"/>
    <p:sldLayoutId xmlns:r="http://schemas.openxmlformats.org/officeDocument/2006/relationships" id="2147483658" r:id="Rd93147f240844479"/>
    <p:sldLayoutId xmlns:r="http://schemas.openxmlformats.org/officeDocument/2006/relationships" id="2147483659" r:id="Rf51d01fa18004443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bcf1a992964926" /><Relationship Type="http://schemas.openxmlformats.org/officeDocument/2006/relationships/notesSlide" Target="/ppt/notesSlides/notesSlide1.xml" Id="R9c7b8096a248458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aa9a46c4084bb2" /><Relationship Type="http://schemas.openxmlformats.org/officeDocument/2006/relationships/image" Target="/ppt/media/image.png" Id="Ra7bd8f1a07fc4acf" /><Relationship Type="http://schemas.openxmlformats.org/officeDocument/2006/relationships/image" Target="/ppt/media/image2.png" Id="Rdaeac4810496458f" /><Relationship Type="http://schemas.openxmlformats.org/officeDocument/2006/relationships/notesSlide" Target="/ppt/notesSlides/notesSlide2.xml" Id="R9db88a00ef1a4f1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0883fe58054923" /><Relationship Type="http://schemas.openxmlformats.org/officeDocument/2006/relationships/image" Target="/ppt/media/image3.png" Id="R1279d4a3de744d65" /><Relationship Type="http://schemas.openxmlformats.org/officeDocument/2006/relationships/image" Target="/ppt/media/image4.png" Id="R0643c8efda0b404e" /><Relationship Type="http://schemas.openxmlformats.org/officeDocument/2006/relationships/notesSlide" Target="/ppt/notesSlides/notesSlide3.xml" Id="R136e63c0ae154e6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c0184006af4209" /><Relationship Type="http://schemas.openxmlformats.org/officeDocument/2006/relationships/image" Target="/ppt/media/image5.png" Id="Reccd2f42dc154230" /><Relationship Type="http://schemas.openxmlformats.org/officeDocument/2006/relationships/image" Target="/ppt/media/image6.png" Id="R48fa246a24744dae" /><Relationship Type="http://schemas.openxmlformats.org/officeDocument/2006/relationships/notesSlide" Target="/ppt/notesSlides/notesSlide4.xml" Id="R5f73a1a16fb0438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2ef690b12444be" /><Relationship Type="http://schemas.openxmlformats.org/officeDocument/2006/relationships/image" Target="/ppt/media/image7.png" Id="R90ef0798f4b3407d" /><Relationship Type="http://schemas.openxmlformats.org/officeDocument/2006/relationships/notesSlide" Target="/ppt/notesSlides/notesSlide5.xml" Id="R5733483650c64b9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14363ca1f54f87" /><Relationship Type="http://schemas.openxmlformats.org/officeDocument/2006/relationships/image" Target="/ppt/media/image8.png" Id="Rab7634952a6b4c4c" /><Relationship Type="http://schemas.openxmlformats.org/officeDocument/2006/relationships/notesSlide" Target="/ppt/notesSlides/notesSlide6.xml" Id="R6bddf622ebf3436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dd21f18d9b49b6" /><Relationship Type="http://schemas.openxmlformats.org/officeDocument/2006/relationships/image" Target="/ppt/media/image9.png" Id="Re420bfa2defa4806" /><Relationship Type="http://schemas.openxmlformats.org/officeDocument/2006/relationships/notesSlide" Target="/ppt/notesSlides/notesSlide7.xml" Id="Rbd7fd273327c466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3bcefd61fb43c1" /><Relationship Type="http://schemas.openxmlformats.org/officeDocument/2006/relationships/image" Target="/ppt/media/image10.png" Id="Rb900e20cb14640bc" /><Relationship Type="http://schemas.openxmlformats.org/officeDocument/2006/relationships/notesSlide" Target="/ppt/notesSlides/notesSlide8.xml" Id="R5c2d26c32840453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4d416c741547b4" /><Relationship Type="http://schemas.openxmlformats.org/officeDocument/2006/relationships/image" Target="/ppt/media/image11.png" Id="Rba7257009c9b4f2d" /><Relationship Type="http://schemas.openxmlformats.org/officeDocument/2006/relationships/notesSlide" Target="/ppt/notesSlides/notesSlide9.xml" Id="R67ab2e5b92084cb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4616d9c3e04167" /><Relationship Type="http://schemas.openxmlformats.org/officeDocument/2006/relationships/image" Target="/ppt/media/image12.png" Id="Rab8fe43bf1b84afc" /><Relationship Type="http://schemas.openxmlformats.org/officeDocument/2006/relationships/notesSlide" Target="/ppt/notesSlides/notesSlide10.xml" Id="R5797eda0125745e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5e27bf20c44e99" /><Relationship Type="http://schemas.openxmlformats.org/officeDocument/2006/relationships/image" Target="/ppt/media/image13.png" Id="R75d5fa223d434a86" /><Relationship Type="http://schemas.openxmlformats.org/officeDocument/2006/relationships/image" Target="/ppt/media/image14.png" Id="Rbbc10317a7a74ad8" /><Relationship Type="http://schemas.openxmlformats.org/officeDocument/2006/relationships/notesSlide" Target="/ppt/notesSlides/notesSlide11.xml" Id="R66d7571803a545f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e00a9571cd4bcf" /><Relationship Type="http://schemas.openxmlformats.org/officeDocument/2006/relationships/image" Target="/ppt/media/image15.png" Id="R108257e34a6e4a60" /><Relationship Type="http://schemas.openxmlformats.org/officeDocument/2006/relationships/notesSlide" Target="/ppt/notesSlides/notesSlide12.xml" Id="R591dc749708c473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dc775b2e344aec" /><Relationship Type="http://schemas.openxmlformats.org/officeDocument/2006/relationships/image" Target="/ppt/media/image16.png" Id="Rb344bafd06d94035" /><Relationship Type="http://schemas.openxmlformats.org/officeDocument/2006/relationships/notesSlide" Target="/ppt/notesSlides/notesSlide13.xml" Id="R9c753a561e724ba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59d7d392874968" /><Relationship Type="http://schemas.openxmlformats.org/officeDocument/2006/relationships/image" Target="/ppt/media/image17.png" Id="R490e244a4f114379" /><Relationship Type="http://schemas.openxmlformats.org/officeDocument/2006/relationships/notesSlide" Target="/ppt/notesSlides/notesSlide14.xml" Id="R6014f3d5d738407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6da53609cd4449" /><Relationship Type="http://schemas.openxmlformats.org/officeDocument/2006/relationships/image" Target="/ppt/media/image18.png" Id="R8bb2555f2f314dc4" /><Relationship Type="http://schemas.openxmlformats.org/officeDocument/2006/relationships/notesSlide" Target="/ppt/notesSlides/notesSlide15.xml" Id="R2144b51f48254f6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31c30e850f47c2" /><Relationship Type="http://schemas.openxmlformats.org/officeDocument/2006/relationships/notesSlide" Target="/ppt/notesSlides/notesSlide16.xml" Id="R845bc077e7fe408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d0c29b8bf640b3" /><Relationship Type="http://schemas.openxmlformats.org/officeDocument/2006/relationships/notesSlide" Target="/ppt/notesSlides/notesSlide17.xml" Id="R6d9cda92bd7e47d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B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5D25EF-ADDA-4F6F-8BC3-2BD8794AC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181100"/>
            <a:ext cx="100584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650" b="1">
                <a:solidFill>
                  <a:srgbClr val="10172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10172A"/>
                </a:solidFill>
                <a:latin typeface="Arial"/>
                <a:ea typeface="Arial"/>
                <a:cs typeface="Arial"/>
              </a:rPr>
              <a:t>iPhone Duo</a:t>
            </a:r>
          </a:p>
          <a:p xmlns:a="http://schemas.openxmlformats.org/drawingml/2006/main">
            <a:pPr>
              <a:buNone/>
              <a:defRPr sz="4650" b="1">
                <a:solidFill>
                  <a:srgbClr val="10172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10172A"/>
                </a:solidFill>
                <a:latin typeface="Arial"/>
                <a:ea typeface="Arial"/>
                <a:cs typeface="Arial"/>
              </a:rPr>
              <a:t>自适应布局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911982-35B9-4733-9F80-0DD1D7C0F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200400"/>
            <a:ext cx="100107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使用 SwiftUI 和 UIKit 适配现有应用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A5C893-DB92-4664-9034-D2B7E1A0B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210050"/>
            <a:ext cx="100107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5B4EE5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B4EE5"/>
                </a:solidFill>
                <a:latin typeface="Arial"/>
                <a:ea typeface="Arial"/>
                <a:cs typeface="Arial"/>
              </a:rPr>
              <a:t>Somendra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2D8628-A934-4F3B-9F23-A637EA41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5238750"/>
            <a:ext cx="100107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让布局适应变化的屏幕，</a:t>
            </a:r>
          </a:p>
          <a:p xmlns:a="http://schemas.openxmlformats.org/drawingml/2006/main">
            <a:pPr>
              <a:buNone/>
              <a:defRPr sz="1875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同时保持内容、控件和状态一致。</a:t>
            </a:r>
          </a:p>
        </p:txBody>
      </p:sp>
    </p:spTree>
    <p:extLst>
      <p:ext uri="{BB962C8B-B14F-4D97-AF65-F5344CB8AC3E}">
        <p14:creationId xmlns:p14="http://schemas.microsoft.com/office/powerpoint/2010/main" val="9850951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B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4E7EAB-382E-495B-A8F7-ACBFE50C1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11010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0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0172A"/>
                </a:solidFill>
                <a:latin typeface="Arial"/>
                <a:ea typeface="Arial"/>
                <a:cs typeface="Arial"/>
              </a:rPr>
              <a:t>iPhone Duo 自适应布局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01224F-2435-4665-AE19-53516D25C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895350"/>
            <a:ext cx="914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4EE5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F855EB-7C56-409C-939C-34F2E1BD9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800100"/>
            <a:ext cx="9858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使用 SwiftUI 和 UIKit API 调整现有应用的布局，保持用户任务的连续性。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732D94-3326-4281-87D5-7CAB442D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77000"/>
            <a:ext cx="628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6E789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E7891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CBDCDD-8143-4989-AF0B-A32C5B9B4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47800"/>
            <a:ext cx="2667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B4EE5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5B4EE5"/>
                </a:solidFill>
                <a:latin typeface="Arial"/>
                <a:ea typeface="Arial"/>
                <a:cs typeface="Arial"/>
              </a:rPr>
              <a:t>项目：窄布局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7F2EBA-88A2-4871-9BD5-5FA8B62EA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447800"/>
            <a:ext cx="5048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B4EE5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5B4EE5"/>
                </a:solidFill>
                <a:latin typeface="Arial"/>
                <a:ea typeface="Arial"/>
                <a:cs typeface="Arial"/>
              </a:rPr>
              <a:t>项目：宽布局</a:t>
            </a:r>
          </a:p>
        </p:txBody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8FDB20-812F-4217-86E8-3B8E78924DF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bd8f1a07fc4acf"/>
          <a:srcRect xmlns:a="http://schemas.openxmlformats.org/drawingml/2006/main" l="0" t="13916" r="0" b="25049"/>
          <a:stretch xmlns:a="http://schemas.openxmlformats.org/drawingml/2006/main"/>
        </p:blipFill>
        <p:spPr>
          <a:xfrm xmlns:a="http://schemas.openxmlformats.org/drawingml/2006/main">
            <a:off x="590550" y="1926194"/>
            <a:ext cx="2667000" cy="3539013"/>
          </a:xfrm>
          <a:prstGeom xmlns:a="http://schemas.openxmlformats.org/drawingml/2006/main" prst="rect">
            <a:avLst/>
          </a:prstGeom>
        </p:spPr>
      </p:pic>
      <p:pic>
        <p:nvPic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546B49-0376-49E1-A812-419C62223D8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eac4810496458f"/>
          <a:srcRect xmlns:a="http://schemas.openxmlformats.org/drawingml/2006/main" l="0" t="0" r="0" b="50658"/>
          <a:stretch xmlns:a="http://schemas.openxmlformats.org/drawingml/2006/main"/>
        </p:blipFill>
        <p:spPr>
          <a:xfrm xmlns:a="http://schemas.openxmlformats.org/drawingml/2006/main">
            <a:off x="3524250" y="2035091"/>
            <a:ext cx="5048250" cy="3321217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72D599-824B-45BF-9534-E6D8C0B88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1943100"/>
            <a:ext cx="2705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0172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72A"/>
                </a:solidFill>
                <a:latin typeface="Arial"/>
                <a:ea typeface="Arial"/>
                <a:cs typeface="Arial"/>
              </a:rPr>
              <a:t>布局问题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3E3F57-4481-489B-82DD-845ED0BF4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381250"/>
            <a:ext cx="270510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窗口变化时，固定行布局和屏幕假设会导致问题。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63429E-BE5F-42D2-AA43-E24C4C8D1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743325"/>
            <a:ext cx="2705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0172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72A"/>
                </a:solidFill>
                <a:latin typeface="Arial"/>
                <a:ea typeface="Arial"/>
                <a:cs typeface="Arial"/>
              </a:rPr>
              <a:t>目标行为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F7C37F-F55A-4138-8A45-A47AAA1A6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181475"/>
            <a:ext cx="27051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控件始终可访问。内容重新排列。选择和数据保持不变。</a:t>
            </a:r>
          </a:p>
        </p:txBody>
      </p:sp>
    </p:spTree>
    <p:extLst>
      <p:ext uri="{BB962C8B-B14F-4D97-AF65-F5344CB8AC3E}">
        <p14:creationId xmlns:p14="http://schemas.microsoft.com/office/powerpoint/2010/main" val="109413844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B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92F456-7C1B-4789-8244-9C551AC00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11010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0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0172A"/>
                </a:solidFill>
                <a:latin typeface="Arial"/>
                <a:ea typeface="Arial"/>
                <a:cs typeface="Arial"/>
              </a:rPr>
              <a:t>窗口几何与 Size Class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C3FDEB-4164-47B3-8D1C-1EE04A554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895350"/>
            <a:ext cx="914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4EE5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00BA45-56D9-4EB5-875C-C16BBDBCF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800100"/>
            <a:ext cx="9858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GeometryReader 需要 iOS 13+，AnyLayout 需要 iOS 16+。布局依据来自当前窗口。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B1A5F6-99CD-402E-B187-6253AB6DF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77000"/>
            <a:ext cx="628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6E789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E7891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DFDD2C-A87E-46A8-930F-DE877155C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09700"/>
            <a:ext cx="66103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B4EE5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5B4EE5"/>
                </a:solidFill>
                <a:latin typeface="Arial"/>
                <a:ea typeface="Arial"/>
                <a:cs typeface="Arial"/>
              </a:rPr>
              <a:t>SwiftUI：局部宽度决定内容适配规则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354F13-964C-4967-8C50-DF34B5873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0"/>
            <a:ext cx="6610350" cy="2828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A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D93E9F-9468-4936-876D-E93EB4F1C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6229350" cy="2562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GeometryReader</a:t>
            </a: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{ </a:t>
            </a: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proxy</a:t>
            </a: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650">
                <a:solidFill>
                  <a:srgbClr val="EFA8EB"/>
                </a:solidFill>
                <a:latin typeface="DejaVu Sans Mono"/>
                <a:ea typeface="DejaVu Sans Mono"/>
                <a:cs typeface="DejaVu Sans Mono"/>
              </a:rPr>
              <a:t>in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</a:t>
            </a:r>
            <a:r>
              <a:rPr sz="1650">
                <a:solidFill>
                  <a:srgbClr val="EFA8EB"/>
                </a:solidFill>
                <a:latin typeface="DejaVu Sans Mono"/>
                <a:ea typeface="DejaVu Sans Mono"/>
                <a:cs typeface="DejaVu Sans Mono"/>
              </a:rPr>
              <a:t>let</a:t>
            </a: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layout</a:t>
            </a: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= </a:t>
            </a: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proxy</a:t>
            </a: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.</a:t>
            </a: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size</a:t>
            </a: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.</a:t>
            </a: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width</a:t>
            </a: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&gt;= </a:t>
            </a:r>
            <a:r>
              <a:rPr sz="1650">
                <a:solidFill>
                  <a:srgbClr val="B8D7A3"/>
                </a:solidFill>
                <a:latin typeface="DejaVu Sans Mono"/>
                <a:ea typeface="DejaVu Sans Mono"/>
                <a:cs typeface="DejaVu Sans Mono"/>
              </a:rPr>
              <a:t>600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? </a:t>
            </a:r>
            <a:r>
              <a:rPr sz="1650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AnyLayout</a:t>
            </a: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</a:t>
            </a:r>
            <a:r>
              <a:rPr sz="1650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HStackLayout</a:t>
            </a: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</a:t>
            </a: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spacing</a:t>
            </a: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: </a:t>
            </a:r>
            <a:r>
              <a:rPr sz="1650">
                <a:solidFill>
                  <a:srgbClr val="B8D7A3"/>
                </a:solidFill>
                <a:latin typeface="DejaVu Sans Mono"/>
                <a:ea typeface="DejaVu Sans Mono"/>
                <a:cs typeface="DejaVu Sans Mono"/>
              </a:rPr>
              <a:t>16</a:t>
            </a: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))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: </a:t>
            </a:r>
            <a:r>
              <a:rPr sz="1650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AnyLayout</a:t>
            </a: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</a:t>
            </a:r>
            <a:r>
              <a:rPr sz="1650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VStackLayout</a:t>
            </a: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</a:t>
            </a: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spacing</a:t>
            </a: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: </a:t>
            </a:r>
            <a:r>
              <a:rPr sz="1650">
                <a:solidFill>
                  <a:srgbClr val="B8D7A3"/>
                </a:solidFill>
                <a:latin typeface="DejaVu Sans Mono"/>
                <a:ea typeface="DejaVu Sans Mono"/>
                <a:cs typeface="DejaVu Sans Mono"/>
              </a:rPr>
              <a:t>16</a:t>
            </a: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))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</a:t>
            </a: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layout</a:t>
            </a: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{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</a:t>
            </a:r>
            <a:r>
              <a:rPr sz="1650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SummaryCard</a:t>
            </a: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()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</a:t>
            </a:r>
            <a:r>
              <a:rPr sz="1650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ProgressCard</a:t>
            </a: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()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}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EC6805-1CAF-48E9-ABA2-6A401228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95850"/>
            <a:ext cx="661035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600 pt 是示例内容阈值。</a:t>
            </a:r>
          </a:p>
          <a:p xmlns:a="http://schemas.openxmlformats.org/drawingml/2006/main">
            <a:pPr>
              <a:buNone/>
              <a:defRPr sz="180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Size Class 描述当前窗口。</a:t>
            </a:r>
          </a:p>
          <a:p xmlns:a="http://schemas.openxmlformats.org/drawingml/2006/main">
            <a:pPr>
              <a:buNone/>
              <a:defRPr sz="180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AnyLayout 保留子视图身份。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CF7864-FB70-45F6-8A29-58572AE9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409700"/>
            <a:ext cx="40767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B4EE5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5B4EE5"/>
                </a:solidFill>
                <a:latin typeface="Arial"/>
                <a:ea typeface="Arial"/>
                <a:cs typeface="Arial"/>
              </a:rPr>
              <a:t>Apple：窗口的两个轴向均可变化</a:t>
            </a:r>
          </a:p>
        </p:txBody>
      </p:sp>
      <p:pic>
        <p:nvPic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EDD7CA-4D56-4BA6-909A-7CE4B27CF2C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79d4a3de744d65"/>
          <a:srcRect xmlns:a="http://schemas.openxmlformats.org/drawingml/2006/main" l="4492" t="13860" r="7764" b="1116"/>
          <a:stretch xmlns:a="http://schemas.openxmlformats.org/drawingml/2006/main"/>
        </p:blipFill>
        <p:spPr>
          <a:xfrm xmlns:a="http://schemas.openxmlformats.org/drawingml/2006/main">
            <a:off x="8158579" y="1809750"/>
            <a:ext cx="2809041" cy="1428750"/>
          </a:xfrm>
          <a:prstGeom xmlns:a="http://schemas.openxmlformats.org/drawingml/2006/main" prst="rect">
            <a:avLst/>
          </a:prstGeom>
        </p:spPr>
      </p:pic>
      <p:pic>
        <p:nvPic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E133EEA-0372-4B4E-B2A9-91D9E0C3CC7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43c8efda0b404e"/>
          <a:srcRect xmlns:a="http://schemas.openxmlformats.org/drawingml/2006/main" l="13184" t="27778" r="7324" b="1515"/>
          <a:stretch xmlns:a="http://schemas.openxmlformats.org/drawingml/2006/main"/>
        </p:blipFill>
        <p:spPr>
          <a:xfrm xmlns:a="http://schemas.openxmlformats.org/drawingml/2006/main">
            <a:off x="7990278" y="3371850"/>
            <a:ext cx="3145645" cy="135255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42E5F4-E7FE-4B7C-8F7F-CDDEDB5AE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095875"/>
            <a:ext cx="40767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UIKit：view.bounds 和 traitCollection</a:t>
            </a:r>
          </a:p>
          <a:p xmlns:a="http://schemas.openxmlformats.org/drawingml/2006/main">
            <a:pPr>
              <a:buNone/>
              <a:defRPr sz="1575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仅在需要屏幕时使用：</a:t>
            </a:r>
          </a:p>
          <a:p xmlns:a="http://schemas.openxmlformats.org/drawingml/2006/main">
            <a:pPr>
              <a:buNone/>
              <a:defRPr sz="1575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view.window?.windowScene?.screen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DA9CB6-85FF-4885-BFFE-24C02D385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57900"/>
            <a:ext cx="1101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使用局部 bounds 和 Trait。UIRequiresFullScreen 不会阻止展开／闭合引起的尺寸变化。</a:t>
            </a:r>
          </a:p>
        </p:txBody>
      </p:sp>
    </p:spTree>
    <p:extLst>
      <p:ext uri="{BB962C8B-B14F-4D97-AF65-F5344CB8AC3E}">
        <p14:creationId xmlns:p14="http://schemas.microsoft.com/office/powerpoint/2010/main" val="186088659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B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3E2032-8DE4-44B1-A34A-B72089931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11010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0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0172A"/>
                </a:solidFill>
                <a:latin typeface="Arial"/>
                <a:ea typeface="Arial"/>
                <a:cs typeface="Arial"/>
              </a:rPr>
              <a:t>原生标签页与可选侧边栏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44600B-C628-428A-AE5A-310FF641E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895350"/>
            <a:ext cx="914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4EE5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E5CD27-D2D1-42D7-AD49-62C359307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800100"/>
            <a:ext cx="9858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Tab 需要 iOS 18+，defaultTabBarPlacement 需要 iOS 27+。不同尺寸下保留相同导航目标。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896C50-57FA-4038-9042-BCF0B5EF9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77000"/>
            <a:ext cx="628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6E789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E7891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F2C54B-5B23-4CC4-A16F-8D60CFFBB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09700"/>
            <a:ext cx="5810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B4EE5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5B4EE5"/>
                </a:solidFill>
                <a:latin typeface="Arial"/>
                <a:ea typeface="Arial"/>
                <a:cs typeface="Arial"/>
              </a:rPr>
              <a:t>带侧边栏偏好的原生 TabView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332056-640D-4E78-A192-5669548CD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0"/>
            <a:ext cx="58102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A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6885BA-EDD0-4521-92FD-064E6E927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5429250" cy="382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TabView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selection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: $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selectedTab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) {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</a:t>
            </a:r>
            <a:r>
              <a:rPr sz="1500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Tab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</a:t>
            </a:r>
            <a:r>
              <a:rPr sz="1500">
                <a:solidFill>
                  <a:srgbClr val="F3B98D"/>
                </a:solidFill>
                <a:latin typeface="DejaVu Sans Mono"/>
                <a:ea typeface="DejaVu Sans Mono"/>
                <a:cs typeface="DejaVu Sans Mono"/>
              </a:rPr>
              <a:t>"工作区"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,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systemImage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: </a:t>
            </a:r>
            <a:r>
              <a:rPr sz="1500">
                <a:solidFill>
                  <a:srgbClr val="F3B98D"/>
                </a:solidFill>
                <a:latin typeface="DejaVu Sans Mono"/>
                <a:ea typeface="DejaVu Sans Mono"/>
                <a:cs typeface="DejaVu Sans Mono"/>
              </a:rPr>
              <a:t>"square.grid.2x2"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,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value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: </a:t>
            </a:r>
            <a:r>
              <a:rPr sz="1500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AppTab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.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workspace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) {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workspace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}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</a:t>
            </a:r>
            <a:r>
              <a:rPr sz="1500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Tab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</a:t>
            </a:r>
            <a:r>
              <a:rPr sz="1500">
                <a:solidFill>
                  <a:srgbClr val="F3B98D"/>
                </a:solidFill>
                <a:latin typeface="DejaVu Sans Mono"/>
                <a:ea typeface="DejaVu Sans Mono"/>
                <a:cs typeface="DejaVu Sans Mono"/>
              </a:rPr>
              <a:t>"检查"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,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systemImage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: </a:t>
            </a:r>
            <a:r>
              <a:rPr sz="1500">
                <a:solidFill>
                  <a:srgbClr val="F3B98D"/>
                </a:solidFill>
                <a:latin typeface="DejaVu Sans Mono"/>
                <a:ea typeface="DejaVu Sans Mono"/>
                <a:cs typeface="DejaVu Sans Mono"/>
              </a:rPr>
              <a:t>"checkmark.seal"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,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value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: </a:t>
            </a:r>
            <a:r>
              <a:rPr sz="1500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AppTab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.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review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) {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review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}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}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.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tabViewStyle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(.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sidebarAdaptable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)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.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defaultTabBarPlacement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(.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sidebar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52E7A5-79A4-4E6B-AE7D-636872F2C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409700"/>
            <a:ext cx="48387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B4EE5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5B4EE5"/>
                </a:solidFill>
                <a:latin typeface="Arial"/>
                <a:ea typeface="Arial"/>
                <a:cs typeface="Arial"/>
              </a:rPr>
              <a:t>Apple：显示屏边缘的标签栏</a:t>
            </a:r>
          </a:p>
        </p:txBody>
      </p:sp>
      <p:pic>
        <p:nvPic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3914EB5-BEDB-4575-BAB1-30F4626B6C8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cd2f42dc154230"/>
          <a:srcRect xmlns:a="http://schemas.openxmlformats.org/drawingml/2006/main" l="2344" t="4357" r="2051" b="830"/>
          <a:stretch xmlns:a="http://schemas.openxmlformats.org/drawingml/2006/main"/>
        </p:blipFill>
        <p:spPr>
          <a:xfrm xmlns:a="http://schemas.openxmlformats.org/drawingml/2006/main">
            <a:off x="7264053" y="1809750"/>
            <a:ext cx="3836095" cy="179070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958CEA-25D7-434D-AB17-FB8618BAE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857625"/>
            <a:ext cx="48387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B4EE5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5B4EE5"/>
                </a:solidFill>
                <a:latin typeface="Arial"/>
                <a:ea typeface="Arial"/>
                <a:cs typeface="Arial"/>
              </a:rPr>
              <a:t>Apple：可选侧边栏导航</a:t>
            </a:r>
          </a:p>
        </p:txBody>
      </p:sp>
      <p:pic>
        <p:nvPic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8E27A74-7872-4A69-9032-EAACAF7B002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fa246a24744dae"/>
          <a:srcRect xmlns:a="http://schemas.openxmlformats.org/drawingml/2006/main" l="13930" t="14753" r="11443" b="33413"/>
          <a:stretch xmlns:a="http://schemas.openxmlformats.org/drawingml/2006/main"/>
        </p:blipFill>
        <p:spPr>
          <a:xfrm xmlns:a="http://schemas.openxmlformats.org/drawingml/2006/main">
            <a:off x="7269773" y="4257675"/>
            <a:ext cx="3824654" cy="165735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B46EBA-D3A2-4F30-879A-9764B276A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57900"/>
            <a:ext cx="1101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API 实验室包含标签页／侧边栏会话及对应 UIKit 示例。iOS 17 保留原生 tabItem 回退。</a:t>
            </a:r>
          </a:p>
        </p:txBody>
      </p:sp>
    </p:spTree>
    <p:extLst>
      <p:ext uri="{BB962C8B-B14F-4D97-AF65-F5344CB8AC3E}">
        <p14:creationId xmlns:p14="http://schemas.microsoft.com/office/powerpoint/2010/main" val="202277504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B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9960B7-C95D-4498-8126-9129C08C9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11010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0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0172A"/>
                </a:solidFill>
                <a:latin typeface="Arial"/>
                <a:ea typeface="Arial"/>
                <a:cs typeface="Arial"/>
              </a:rPr>
              <a:t>NavigationSplitView 保留导航层级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50AB9A-9788-413A-A88E-FE2D4D89B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895350"/>
            <a:ext cx="914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4EE5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45165B-47EF-49BB-A3D6-DDE342D82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800100"/>
            <a:ext cx="9858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iOS 16+。窗口紧凑时，原生导航折叠为栈。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E2EA4B-B0D4-46C6-805F-A69A958EC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77000"/>
            <a:ext cx="628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6E789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E7891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C92BA1-C274-4258-A419-0957708ED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09700"/>
            <a:ext cx="66103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B4EE5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5B4EE5"/>
                </a:solidFill>
                <a:latin typeface="Arial"/>
                <a:ea typeface="Arial"/>
                <a:cs typeface="Arial"/>
              </a:rPr>
              <a:t>RootView：现有侧边栏与详情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66788B-104F-4E83-A798-5DBF34274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0"/>
            <a:ext cx="661035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A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AAA727-286D-4F74-92EC-94F65712B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6229350" cy="293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NavigationSplitView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{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</a:t>
            </a:r>
            <a:r>
              <a:rPr sz="1575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List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selection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: $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selectedCategory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) {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</a:t>
            </a:r>
            <a:r>
              <a:rPr sz="1575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ForEach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</a:t>
            </a:r>
            <a:r>
              <a:rPr sz="1575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WorkCategory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.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allCases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) { 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item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575">
                <a:solidFill>
                  <a:srgbClr val="EFA8EB"/>
                </a:solidFill>
                <a:latin typeface="DejaVu Sans Mono"/>
                <a:ea typeface="DejaVu Sans Mono"/>
                <a:cs typeface="DejaVu Sans Mono"/>
              </a:rPr>
              <a:t>in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    </a:t>
            </a:r>
            <a:r>
              <a:rPr sz="1575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NavigationLink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value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: 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item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) {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        </a:t>
            </a:r>
            <a:r>
              <a:rPr sz="1575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Label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item.title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,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              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systemImage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: 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item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.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symbol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)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    }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}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}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} 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detail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: {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workspaceDetail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701DDC-2812-4F1B-9A7A-2655DCCA0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19700"/>
            <a:ext cx="66103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UIKit 对应容器：UISplitViewController</a:t>
            </a:r>
          </a:p>
          <a:p xmlns:a="http://schemas.openxmlformats.org/drawingml/2006/main">
            <a:pPr>
              <a:buNone/>
              <a:defRPr sz="180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在备选布局上层管理</a:t>
            </a:r>
          </a:p>
          <a:p xmlns:a="http://schemas.openxmlformats.org/drawingml/2006/main">
            <a:pPr>
              <a:buNone/>
              <a:defRPr sz="180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选择状态和共享数据。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05B589-E946-4426-B121-E740C6EA0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409700"/>
            <a:ext cx="40767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B4EE5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5B4EE5"/>
                </a:solidFill>
                <a:latin typeface="Arial"/>
                <a:ea typeface="Arial"/>
                <a:cs typeface="Arial"/>
              </a:rPr>
              <a:t>项目：侧边栏与工作区</a:t>
            </a:r>
          </a:p>
        </p:txBody>
      </p:sp>
      <p:pic>
        <p:nvPic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1F0B96A-CD9E-4E35-AD2A-174389D0AEF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ef0798f4b3407d"/>
          <a:srcRect xmlns:a="http://schemas.openxmlformats.org/drawingml/2006/main" l="0" t="0" r="0" b="53399"/>
          <a:stretch xmlns:a="http://schemas.openxmlformats.org/drawingml/2006/main"/>
        </p:blipFill>
        <p:spPr>
          <a:xfrm xmlns:a="http://schemas.openxmlformats.org/drawingml/2006/main">
            <a:off x="7524750" y="1881494"/>
            <a:ext cx="4076700" cy="2533037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78BBF4-9D26-4193-A036-F547EE829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733925"/>
            <a:ext cx="407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0172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72A"/>
                </a:solidFill>
                <a:latin typeface="Arial"/>
                <a:ea typeface="Arial"/>
                <a:cs typeface="Arial"/>
              </a:rPr>
              <a:t>UI 效果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4341F9-5362-46F4-B9A3-475BD9B0A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133975"/>
            <a:ext cx="40767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宽窗口可显示更多层级。</a:t>
            </a:r>
          </a:p>
          <a:p xmlns:a="http://schemas.openxmlformats.org/drawingml/2006/main">
            <a:pPr>
              <a:buNone/>
              <a:defRPr sz="165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窄窗口通过原生栈导航</a:t>
            </a:r>
          </a:p>
          <a:p xmlns:a="http://schemas.openxmlformats.org/drawingml/2006/main">
            <a:pPr>
              <a:buNone/>
              <a:defRPr sz="165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保留访问入口。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4A4BBB-DEE1-4B58-B7A7-ABE49EEE5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57900"/>
            <a:ext cx="1101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已在 RootView 实现。此图来自较早项目截图，早于最新标签页集成。</a:t>
            </a:r>
          </a:p>
        </p:txBody>
      </p:sp>
    </p:spTree>
    <p:extLst>
      <p:ext uri="{BB962C8B-B14F-4D97-AF65-F5344CB8AC3E}">
        <p14:creationId xmlns:p14="http://schemas.microsoft.com/office/powerpoint/2010/main" val="171581463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B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A82B8B-A954-40AF-8A4A-CA2F7DC80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11010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0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0172A"/>
                </a:solidFill>
                <a:latin typeface="Arial"/>
                <a:ea typeface="Arial"/>
                <a:cs typeface="Arial"/>
              </a:rPr>
              <a:t>安全区域使控件避开系统 UI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B7ED7D-FAA8-4ABB-AE92-45D746E52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895350"/>
            <a:ext cx="914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4EE5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18F7D1-4CC5-49A5-8E7F-FB5ADF56C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800100"/>
            <a:ext cx="9858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前景内容遵循各侧边距。装饰性背景可延伸到系统栏后方。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9EB03E-90BD-4AB4-BF2F-E41C4548A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77000"/>
            <a:ext cx="628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6E789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E7891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D33202-BC0F-4DD8-8C49-E94E25A5B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09700"/>
            <a:ext cx="66103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B4EE5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5B4EE5"/>
                </a:solidFill>
                <a:latin typeface="Arial"/>
                <a:ea typeface="Arial"/>
                <a:cs typeface="Arial"/>
              </a:rPr>
              <a:t>SwiftUI：分离背景与内容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99556F-962F-4AD0-B362-959EE972E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0"/>
            <a:ext cx="6610350" cy="3133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A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1DDB8F-EF60-4090-8E60-A3799A000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6229350" cy="2867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ZStack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{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</a:t>
            </a:r>
            <a:r>
              <a:rPr sz="1575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Color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.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blue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.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opacity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</a:t>
            </a:r>
            <a:r>
              <a:rPr sz="1575">
                <a:solidFill>
                  <a:srgbClr val="B8D7A3"/>
                </a:solidFill>
                <a:latin typeface="DejaVu Sans Mono"/>
                <a:ea typeface="DejaVu Sans Mono"/>
                <a:cs typeface="DejaVu Sans Mono"/>
              </a:rPr>
              <a:t>0.12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)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.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ignoresSafeArea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(.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container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)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</a:t>
            </a:r>
            <a:r>
              <a:rPr sz="1575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ScrollView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{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</a:t>
            </a:r>
            <a:r>
              <a:rPr sz="1575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VStack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alignment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: .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leading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, 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spacing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: </a:t>
            </a:r>
            <a:r>
              <a:rPr sz="1575">
                <a:solidFill>
                  <a:srgbClr val="B8D7A3"/>
                </a:solidFill>
                <a:latin typeface="DejaVu Sans Mono"/>
                <a:ea typeface="DejaVu Sans Mono"/>
                <a:cs typeface="DejaVu Sans Mono"/>
              </a:rPr>
              <a:t>16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) {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    </a:t>
            </a:r>
            <a:r>
              <a:rPr sz="1575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WorkspaceControls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()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    </a:t>
            </a:r>
            <a:r>
              <a:rPr sz="1575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RecordCards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()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}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.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padding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()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}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666777-A6D3-4F16-A1F5-5D5AA369D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57800"/>
            <a:ext cx="66103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UIKit：约束到 safeAreaLayoutGuide。</a:t>
            </a:r>
          </a:p>
          <a:p xmlns:a="http://schemas.openxmlformats.org/drawingml/2006/main">
            <a:pPr>
              <a:buNone/>
              <a:defRPr sz="1725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手动布局 frame 时使用</a:t>
            </a:r>
          </a:p>
          <a:p xmlns:a="http://schemas.openxmlformats.org/drawingml/2006/main">
            <a:pPr>
              <a:buNone/>
              <a:defRPr sz="1725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view.bounds.inset(by: view.safeAreaInsets)。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935595-D684-49A1-AF08-778402370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409700"/>
            <a:ext cx="40767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B4EE5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5B4EE5"/>
                </a:solidFill>
                <a:latin typeface="Arial"/>
                <a:ea typeface="Arial"/>
                <a:cs typeface="Arial"/>
              </a:rPr>
              <a:t>Apple：前景安全区域</a:t>
            </a:r>
          </a:p>
        </p:txBody>
      </p:sp>
      <p:pic>
        <p:nvPic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8902D7-4A49-4CD4-9938-692D69B7B5F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7634952a6b4c4c"/>
          <a:srcRect xmlns:a="http://schemas.openxmlformats.org/drawingml/2006/main" l="64697" t="7656" r="879" b="957"/>
          <a:stretch xmlns:a="http://schemas.openxmlformats.org/drawingml/2006/main"/>
        </p:blipFill>
        <p:spPr>
          <a:xfrm xmlns:a="http://schemas.openxmlformats.org/drawingml/2006/main">
            <a:off x="8508368" y="1809750"/>
            <a:ext cx="2109463" cy="28575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725D12-4030-473E-9A84-9424E2995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895850"/>
            <a:ext cx="407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0172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72A"/>
                </a:solidFill>
                <a:latin typeface="Arial"/>
                <a:ea typeface="Arial"/>
                <a:cs typeface="Arial"/>
              </a:rPr>
              <a:t>UI 效果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019F69-53DA-4EC5-89B6-35625E186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295900"/>
            <a:ext cx="40767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内容避开侧边控件区域。</a:t>
            </a:r>
          </a:p>
          <a:p xmlns:a="http://schemas.openxmlformats.org/drawingml/2006/main">
            <a:pPr>
              <a:buNone/>
              <a:defRPr sz="165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相对两侧边距可能不同。</a:t>
            </a:r>
          </a:p>
          <a:p xmlns:a="http://schemas.openxmlformats.org/drawingml/2006/main">
            <a:pPr>
              <a:buNone/>
              <a:defRPr sz="165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测试 Split View 两侧位置。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04BBFE-639D-4092-A315-8F4B983BD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57900"/>
            <a:ext cx="1101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背景已单独使用 ignoresSafeArea。按自定义内容需要修正前景布局。</a:t>
            </a:r>
          </a:p>
        </p:txBody>
      </p:sp>
    </p:spTree>
    <p:extLst>
      <p:ext uri="{BB962C8B-B14F-4D97-AF65-F5344CB8AC3E}">
        <p14:creationId xmlns:p14="http://schemas.microsoft.com/office/powerpoint/2010/main" val="163452873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B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3A2766-527E-4D70-8787-2B8A67261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11010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0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0172A"/>
                </a:solidFill>
                <a:latin typeface="Arial"/>
                <a:ea typeface="Arial"/>
                <a:cs typeface="Arial"/>
              </a:rPr>
              <a:t>内容重新排列，避免控件重叠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956CDA-C162-4183-86B3-A22B0329F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895350"/>
            <a:ext cx="914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4EE5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2794BD-C448-4D5D-BB1B-FA19A2968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800100"/>
            <a:ext cx="9858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iOS 16+。应用提供备选布局，SwiftUI 选择第一个适合空间的视图。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4A4F2C-6C56-4C86-8802-80D089D1A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77000"/>
            <a:ext cx="628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6E789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E7891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8600DB-68EC-4338-9090-E88A50454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09700"/>
            <a:ext cx="66103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B4EE5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5B4EE5"/>
                </a:solidFill>
                <a:latin typeface="Arial"/>
                <a:ea typeface="Arial"/>
                <a:cs typeface="Arial"/>
              </a:rPr>
              <a:t>现有应用的顶部布局模式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0DCE36-4DBF-4394-87D4-D0F5FA0A4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0"/>
            <a:ext cx="6610350" cy="410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A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24C0B0-6D73-420D-A445-0128DA58D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6229350" cy="3838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ViewThatFits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</a:t>
            </a:r>
            <a:r>
              <a:rPr sz="1575">
                <a:solidFill>
                  <a:srgbClr val="EFA8EB"/>
                </a:solidFill>
                <a:latin typeface="DejaVu Sans Mono"/>
                <a:ea typeface="DejaVu Sans Mono"/>
                <a:cs typeface="DejaVu Sans Mono"/>
              </a:rPr>
              <a:t>in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: .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horizontal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) {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</a:t>
            </a:r>
            <a:r>
              <a:rPr sz="1575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HStack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spacing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: </a:t>
            </a:r>
            <a:r>
              <a:rPr sz="1575">
                <a:solidFill>
                  <a:srgbClr val="B8D7A3"/>
                </a:solidFill>
                <a:latin typeface="DejaVu Sans Mono"/>
                <a:ea typeface="DejaVu Sans Mono"/>
                <a:cs typeface="DejaVu Sans Mono"/>
              </a:rPr>
              <a:t>12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) {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layoutButtons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poseControl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decisionBadge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}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.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fixedSize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horizontal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: </a:t>
            </a:r>
            <a:r>
              <a:rPr sz="1575">
                <a:solidFill>
                  <a:srgbClr val="EFA8EB"/>
                </a:solidFill>
                <a:latin typeface="DejaVu Sans Mono"/>
                <a:ea typeface="DejaVu Sans Mono"/>
                <a:cs typeface="DejaVu Sans Mono"/>
              </a:rPr>
              <a:t>true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, 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vertical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: </a:t>
            </a:r>
            <a:r>
              <a:rPr sz="1575">
                <a:solidFill>
                  <a:srgbClr val="EFA8EB"/>
                </a:solidFill>
                <a:latin typeface="DejaVu Sans Mono"/>
                <a:ea typeface="DejaVu Sans Mono"/>
                <a:cs typeface="DejaVu Sans Mono"/>
              </a:rPr>
              <a:t>false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)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</a:t>
            </a:r>
            <a:r>
              <a:rPr sz="1575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VStack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alignment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: .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leading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, 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spacing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: </a:t>
            </a:r>
            <a:r>
              <a:rPr sz="1575">
                <a:solidFill>
                  <a:srgbClr val="B8D7A3"/>
                </a:solidFill>
                <a:latin typeface="DejaVu Sans Mono"/>
                <a:ea typeface="DejaVu Sans Mono"/>
                <a:cs typeface="DejaVu Sans Mono"/>
              </a:rPr>
              <a:t>12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) {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layoutControls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poseControl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decisionBadge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}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E6A1F7-4BF8-4D57-B9ED-B811F40FB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409700"/>
            <a:ext cx="40767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B4EE5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5B4EE5"/>
                </a:solidFill>
                <a:latin typeface="Arial"/>
                <a:ea typeface="Arial"/>
                <a:cs typeface="Arial"/>
              </a:rPr>
              <a:t>项目：较早版本的拥挤控件</a:t>
            </a:r>
          </a:p>
        </p:txBody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D4E85A-A41E-4828-9A37-6B3907CA564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20bfa2defa4806"/>
          <a:srcRect xmlns:a="http://schemas.openxmlformats.org/drawingml/2006/main" l="51873" t="18059" r="13015" b="48526"/>
          <a:stretch xmlns:a="http://schemas.openxmlformats.org/drawingml/2006/main"/>
        </p:blipFill>
        <p:spPr>
          <a:xfrm xmlns:a="http://schemas.openxmlformats.org/drawingml/2006/main">
            <a:off x="7737767" y="1809750"/>
            <a:ext cx="3650666" cy="26479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CC661B-3320-4952-BBC8-E57FD1560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48200"/>
            <a:ext cx="407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0172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72A"/>
                </a:solidFill>
                <a:latin typeface="Arial"/>
                <a:ea typeface="Arial"/>
                <a:cs typeface="Arial"/>
              </a:rPr>
              <a:t>变化效果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E81EDD-E429-402B-9B51-81394E87B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048250"/>
            <a:ext cx="40767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控件可从行排列切换为列排列。</a:t>
            </a:r>
          </a:p>
          <a:p xmlns:a="http://schemas.openxmlformats.org/drawingml/2006/main">
            <a:pPr>
              <a:buNone/>
              <a:defRPr sz="165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卡片标题沿垂直方向扩展。</a:t>
            </a:r>
          </a:p>
          <a:p xmlns:a="http://schemas.openxmlformats.org/drawingml/2006/main">
            <a:pPr>
              <a:buNone/>
              <a:defRPr sz="165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辅助功能字号使用单列回退。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108824-F9CC-439E-ADF0-E62606515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57900"/>
            <a:ext cx="1101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源码已修复适配和多行显示，大字号使用单列。此页仍展示修复前截图。</a:t>
            </a:r>
          </a:p>
        </p:txBody>
      </p:sp>
    </p:spTree>
    <p:extLst>
      <p:ext uri="{BB962C8B-B14F-4D97-AF65-F5344CB8AC3E}">
        <p14:creationId xmlns:p14="http://schemas.microsoft.com/office/powerpoint/2010/main" val="57761349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B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FADE78-2028-417E-B903-CD75AC482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11010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0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0172A"/>
                </a:solidFill>
                <a:latin typeface="Arial"/>
                <a:ea typeface="Arial"/>
                <a:cs typeface="Arial"/>
              </a:rPr>
              <a:t>使用 ArrangementView 排列相关内容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0C8EAB-66C7-47F2-AF29-76D684B01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895350"/>
            <a:ext cx="914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4EE5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709063-825D-4C06-B28E-D14CE51B4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800100"/>
            <a:ext cx="9858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iOS 27.1 beta。用于相关内容的排列，与导航层级分别处理。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2D4385-18C8-484D-A377-8D4E8D642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77000"/>
            <a:ext cx="628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6E789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E7891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8722B0-140A-4DAC-9E55-2F2B68ADA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09700"/>
            <a:ext cx="66103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B4EE5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5B4EE5"/>
                </a:solidFill>
                <a:latin typeface="Arial"/>
                <a:ea typeface="Arial"/>
                <a:cs typeface="Arial"/>
              </a:rPr>
              <a:t>API 实验室模式：精简内容视图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880E9B-1E1D-4B22-B419-7497A5F20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0"/>
            <a:ext cx="661035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A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7C7A54-2061-4236-91E8-D2E8A685B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6229350" cy="1876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72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725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ArrangementView</a:t>
            </a:r>
            <a:r>
              <a:rPr sz="172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{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72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72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</a:t>
            </a:r>
            <a:r>
              <a:rPr sz="1725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RecordList</a:t>
            </a:r>
            <a:r>
              <a:rPr sz="172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</a:t>
            </a:r>
            <a:r>
              <a:rPr sz="172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items</a:t>
            </a:r>
            <a:r>
              <a:rPr sz="172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: </a:t>
            </a:r>
            <a:r>
              <a:rPr sz="172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items</a:t>
            </a:r>
            <a:r>
              <a:rPr sz="172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)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72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72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} </a:t>
            </a:r>
            <a:r>
              <a:rPr sz="172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secondary</a:t>
            </a:r>
            <a:r>
              <a:rPr sz="172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: {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72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72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</a:t>
            </a:r>
            <a:r>
              <a:rPr sz="1725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SummaryView</a:t>
            </a:r>
            <a:r>
              <a:rPr sz="172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</a:t>
            </a:r>
            <a:r>
              <a:rPr sz="172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items</a:t>
            </a:r>
            <a:r>
              <a:rPr sz="172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: </a:t>
            </a:r>
            <a:r>
              <a:rPr sz="172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items</a:t>
            </a:r>
            <a:r>
              <a:rPr sz="172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)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72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72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}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72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72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.</a:t>
            </a:r>
            <a:r>
              <a:rPr sz="172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arrangementViewStyle</a:t>
            </a:r>
            <a:r>
              <a:rPr sz="172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(.</a:t>
            </a:r>
            <a:r>
              <a:rPr sz="172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split</a:t>
            </a:r>
            <a:r>
              <a:rPr sz="172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611D66-2FF1-41CF-8AC1-71A72FDC8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57675"/>
            <a:ext cx="66103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主区域包含每条记录。</a:t>
            </a:r>
          </a:p>
          <a:p xmlns:a="http://schemas.openxmlformats.org/drawingml/2006/main">
            <a:pPr>
              <a:buNone/>
              <a:defRPr sz="1725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摘要有独立导航入口。</a:t>
            </a:r>
          </a:p>
          <a:p xmlns:a="http://schemas.openxmlformats.org/drawingml/2006/main">
            <a:pPr>
              <a:buNone/>
              <a:defRPr sz="1725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</a:p>
          <a:p xmlns:a="http://schemas.openxmlformats.org/drawingml/2006/main">
            <a:pPr>
              <a:buNone/>
              <a:defRPr sz="1725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示例使用分割比例，</a:t>
            </a:r>
          </a:p>
          <a:p xmlns:a="http://schemas.openxmlformats.org/drawingml/2006/main">
            <a:pPr>
              <a:buNone/>
              <a:defRPr sz="1725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并包含独立 Overlay 示例。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78F2C5-20B4-4DA7-A764-92EBE387E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409700"/>
            <a:ext cx="40767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B4EE5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5B4EE5"/>
                </a:solidFill>
                <a:latin typeface="Arial"/>
                <a:ea typeface="Arial"/>
                <a:cs typeface="Arial"/>
              </a:rPr>
              <a:t>Apple 示例：播放器与队列</a:t>
            </a:r>
          </a:p>
        </p:txBody>
      </p:sp>
      <p:pic>
        <p:nvPic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42BAA7F-1D56-47AB-A3BA-B7BD424C340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00e20cb14640bc"/>
          <a:srcRect xmlns:a="http://schemas.openxmlformats.org/drawingml/2006/main" l="51042" t="20185" r="2500" b="20093"/>
          <a:stretch xmlns:a="http://schemas.openxmlformats.org/drawingml/2006/main"/>
        </p:blipFill>
        <p:spPr>
          <a:xfrm xmlns:a="http://schemas.openxmlformats.org/drawingml/2006/main">
            <a:off x="7639907" y="1809750"/>
            <a:ext cx="3846387" cy="27813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AFB5B2-7727-46E8-89BA-47F2F560F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914900"/>
            <a:ext cx="407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0172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72A"/>
                </a:solidFill>
                <a:latin typeface="Arial"/>
                <a:ea typeface="Arial"/>
                <a:cs typeface="Arial"/>
              </a:rPr>
              <a:t>变化效果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11BFD8-AFCC-40C4-BF0F-D56EC45D7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314950"/>
            <a:ext cx="40767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系统排列相关视图。</a:t>
            </a:r>
          </a:p>
          <a:p xmlns:a="http://schemas.openxmlformats.org/drawingml/2006/main">
            <a:pPr>
              <a:buNone/>
              <a:defRPr sz="165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次级视图未显示时，</a:t>
            </a:r>
          </a:p>
          <a:p xmlns:a="http://schemas.openxmlformats.org/drawingml/2006/main">
            <a:pPr>
              <a:buNone/>
              <a:defRPr sz="165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应用仍保留访问入口。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196FD4-A1AB-490F-BEB9-8F7DC8EDF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57900"/>
            <a:ext cx="1101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API 实验室演示原生 Split 和 Overlay 排列。工作区保留独立姿态预览。</a:t>
            </a:r>
          </a:p>
        </p:txBody>
      </p:sp>
    </p:spTree>
    <p:extLst>
      <p:ext uri="{BB962C8B-B14F-4D97-AF65-F5344CB8AC3E}">
        <p14:creationId xmlns:p14="http://schemas.microsoft.com/office/powerpoint/2010/main" val="6337595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B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7BDA9D-EBC9-48AD-A65B-8D461B939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11010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0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0172A"/>
                </a:solidFill>
                <a:latin typeface="Arial"/>
                <a:ea typeface="Arial"/>
                <a:cs typeface="Arial"/>
              </a:rPr>
              <a:t>自定义布局中的保留区域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4B9E69-93DE-4843-9BCC-3AAEFD31B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895350"/>
            <a:ext cx="914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4EE5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F90AB5-D4E7-4188-915B-81B7BD460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800100"/>
            <a:ext cx="9858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iOS 27.1 beta。查询区域不会自动移动自定义 UI。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924881-5779-4154-8CD5-245FE35F6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77000"/>
            <a:ext cx="628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6E789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E7891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E4221E-0E10-4733-9877-53838FF5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09700"/>
            <a:ext cx="66103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B4EE5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5B4EE5"/>
                </a:solidFill>
                <a:latin typeface="Arial"/>
                <a:ea typeface="Arial"/>
                <a:cs typeface="Arial"/>
              </a:rPr>
              <a:t>API 实验室：局部空间的测量值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F802CF-9D8C-4F44-B4C6-4C61F1557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0"/>
            <a:ext cx="6610350" cy="388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A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5EA9C1-16A5-44EA-B558-9811100DB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622935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GeometryReader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{ 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proxy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500">
                <a:solidFill>
                  <a:srgbClr val="EFA8EB"/>
                </a:solidFill>
                <a:latin typeface="DejaVu Sans Mono"/>
                <a:ea typeface="DejaVu Sans Mono"/>
                <a:cs typeface="DejaVu Sans Mono"/>
              </a:rPr>
              <a:t>in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</a:t>
            </a:r>
            <a:r>
              <a:rPr sz="1500">
                <a:solidFill>
                  <a:srgbClr val="EFA8EB"/>
                </a:solidFill>
                <a:latin typeface="DejaVu Sans Mono"/>
                <a:ea typeface="DejaVu Sans Mono"/>
                <a:cs typeface="DejaVu Sans Mono"/>
              </a:rPr>
              <a:t>let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divisions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= 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proxy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.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reservedRegions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kind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: .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division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,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options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: .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includeInactive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)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</a:t>
            </a:r>
            <a:r>
              <a:rPr sz="1500">
                <a:solidFill>
                  <a:srgbClr val="EFA8EB"/>
                </a:solidFill>
                <a:latin typeface="DejaVu Sans Mono"/>
                <a:ea typeface="DejaVu Sans Mono"/>
                <a:cs typeface="DejaVu Sans Mono"/>
              </a:rPr>
              <a:t>let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occlusions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= 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proxy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.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reservedRegions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kind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: .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occlusion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,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options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: .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includeInactive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)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</a:t>
            </a:r>
            <a:r>
              <a:rPr sz="1500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RegionInspector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divisions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: 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divisions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.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filter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{ $</a:t>
            </a:r>
            <a:r>
              <a:rPr sz="1500">
                <a:solidFill>
                  <a:srgbClr val="B8D7A3"/>
                </a:solidFill>
                <a:latin typeface="DejaVu Sans Mono"/>
                <a:ea typeface="DejaVu Sans Mono"/>
                <a:cs typeface="DejaVu Sans Mono"/>
              </a:rPr>
              <a:t>0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.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isActive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},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occlusions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: 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occlusions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.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filter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{ $</a:t>
            </a:r>
            <a:r>
              <a:rPr sz="1500">
                <a:solidFill>
                  <a:srgbClr val="B8D7A3"/>
                </a:solidFill>
                <a:latin typeface="DejaVu Sans Mono"/>
                <a:ea typeface="DejaVu Sans Mono"/>
                <a:cs typeface="DejaVu Sans Mono"/>
              </a:rPr>
              <a:t>0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.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isActive</a:t>
            </a: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}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)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0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AB5707-3813-4B83-8FD1-3C993992F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409700"/>
            <a:ext cx="40767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B4EE5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5B4EE5"/>
                </a:solidFill>
                <a:latin typeface="Arial"/>
                <a:ea typeface="Arial"/>
                <a:cs typeface="Arial"/>
              </a:rPr>
              <a:t>Apple 示意图：相机遮挡区域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C7078D-B00F-470D-B0DF-7EA5B9648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57725"/>
            <a:ext cx="407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0172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72A"/>
                </a:solidFill>
                <a:latin typeface="Arial"/>
                <a:ea typeface="Arial"/>
                <a:cs typeface="Arial"/>
              </a:rPr>
              <a:t>变化效果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6D9C5F-EEAB-46D0-8E0D-21D35FE32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057775"/>
            <a:ext cx="40767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生效边框已包含交互边距。</a:t>
            </a:r>
          </a:p>
          <a:p xmlns:a="http://schemas.openxmlformats.org/drawingml/2006/main">
            <a:pPr>
              <a:buNone/>
              <a:defRPr sz="165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应用代码定位自定义按钮。</a:t>
            </a:r>
          </a:p>
          <a:p xmlns:a="http://schemas.openxmlformats.org/drawingml/2006/main">
            <a:pPr>
              <a:buNone/>
              <a:defRPr sz="165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原生工具栏保留操作入口。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311368-B18F-4CD3-993E-709408017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57900"/>
            <a:ext cx="1101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API 实验室包含实时区域检查与控件避让。空区域或未生效区域均为有效结果。</a:t>
            </a:r>
          </a:p>
        </p:txBody>
      </p:sp>
      <p:pic>
        <p:nvPic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60D861F-DEDF-4911-9053-59EAC787E60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7257009c9b4f2d"/>
          <a:srcRect xmlns:a="http://schemas.openxmlformats.org/drawingml/2006/main" l="33219" t="31165" r="34050" b="0"/>
          <a:stretch xmlns:a="http://schemas.openxmlformats.org/drawingml/2006/main"/>
        </p:blipFill>
        <p:spPr>
          <a:xfrm xmlns:a="http://schemas.openxmlformats.org/drawingml/2006/main">
            <a:off x="8436663" y="1809750"/>
            <a:ext cx="2252875" cy="25622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499142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B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60BC2F-4D00-4B5F-853D-8A04331D1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11010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0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0172A"/>
                </a:solidFill>
                <a:latin typeface="Arial"/>
                <a:ea typeface="Arial"/>
                <a:cs typeface="Arial"/>
              </a:rPr>
              <a:t>同心圆角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C3DB24-7F7B-480F-BFEF-6CAD7BCC3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895350"/>
            <a:ext cx="914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4EE5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72C161-E3E3-48FF-BEE3-DB457389C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800100"/>
            <a:ext cx="9858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ConcentricRectangle 和 UICornerConfiguration 从 iOS 26 提供。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C885C9-6340-481A-A2F1-E779DB648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77000"/>
            <a:ext cx="628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6E789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E7891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32F4E8-801E-4113-A07A-D46A772C1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09700"/>
            <a:ext cx="66103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B4EE5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5B4EE5"/>
                </a:solidFill>
                <a:latin typeface="Arial"/>
                <a:ea typeface="Arial"/>
                <a:cs typeface="Arial"/>
              </a:rPr>
              <a:t>SwiftUI 形状与 UIKit 视图配置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DADDD5-3012-488A-9BD0-E3FD0DA82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0"/>
            <a:ext cx="6610350" cy="2828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A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E9CE84-23B5-4FDF-8751-B27A61507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6229350" cy="2562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>
                <a:solidFill>
                  <a:srgbClr val="9AA9BC"/>
                </a:solidFill>
                <a:latin typeface="DejaVu Sans Mono"/>
                <a:ea typeface="DejaVu Sans Mono"/>
                <a:cs typeface="DejaVu Sans Mono"/>
              </a:rPr>
              <a:t>// SwiftUI 装饰性背景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ConcentricRectangle</a:t>
            </a: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()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.</a:t>
            </a: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fill</a:t>
            </a: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</a:t>
            </a:r>
            <a:r>
              <a:rPr sz="1650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Color</a:t>
            </a: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.</a:t>
            </a: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green</a:t>
            </a: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)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.</a:t>
            </a: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padding</a:t>
            </a: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</a:t>
            </a:r>
            <a:r>
              <a:rPr sz="1650">
                <a:solidFill>
                  <a:srgbClr val="B8D7A3"/>
                </a:solidFill>
                <a:latin typeface="DejaVu Sans Mono"/>
                <a:ea typeface="DejaVu Sans Mono"/>
                <a:cs typeface="DejaVu Sans Mono"/>
              </a:rPr>
              <a:t>8</a:t>
            </a: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)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.</a:t>
            </a: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ignoresSafeArea</a:t>
            </a: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()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>
                <a:solidFill>
                  <a:srgbClr val="9AA9BC"/>
                </a:solidFill>
                <a:latin typeface="DejaVu Sans Mono"/>
                <a:ea typeface="DejaVu Sans Mono"/>
                <a:cs typeface="DejaVu Sans Mono"/>
              </a:rPr>
              <a:t>// UIKit 视图配置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myView</a:t>
            </a: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.</a:t>
            </a: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cornerConfiguration</a:t>
            </a: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= .</a:t>
            </a: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corners</a:t>
            </a: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</a:t>
            </a: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radius</a:t>
            </a: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: .</a:t>
            </a: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containerConcentric</a:t>
            </a: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()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65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B59D20-7017-486B-A352-1D1FF7E21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019675"/>
            <a:ext cx="66103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使用 iOS 26 可用性检查。</a:t>
            </a:r>
          </a:p>
          <a:p xmlns:a="http://schemas.openxmlformats.org/drawingml/2006/main">
            <a:pPr>
              <a:buNone/>
              <a:defRPr sz="1725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支持较早系统时，</a:t>
            </a:r>
          </a:p>
          <a:p xmlns:a="http://schemas.openxmlformats.org/drawingml/2006/main">
            <a:pPr>
              <a:buNone/>
              <a:defRPr sz="1725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保留兼容圆角形状回退。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B18327-4398-4261-BE3C-D4E3D500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409700"/>
            <a:ext cx="40767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B4EE5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5B4EE5"/>
                </a:solidFill>
                <a:latin typeface="Arial"/>
                <a:ea typeface="Arial"/>
                <a:cs typeface="Arial"/>
              </a:rPr>
              <a:t>Apple 示例：同心圆角细节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247FA4-A22B-43A8-A6F5-0B660586C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895850"/>
            <a:ext cx="407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0172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72A"/>
                </a:solidFill>
                <a:latin typeface="Arial"/>
                <a:ea typeface="Arial"/>
                <a:cs typeface="Arial"/>
              </a:rPr>
              <a:t>变化效果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936B1E-63BC-4D27-BBBA-ED2CE2A8B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295900"/>
            <a:ext cx="40767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曲线随容器调整。</a:t>
            </a:r>
          </a:p>
          <a:p xmlns:a="http://schemas.openxmlformats.org/drawingml/2006/main">
            <a:pPr>
              <a:buNone/>
              <a:defRPr sz="165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单一硬编码圆角半径</a:t>
            </a:r>
          </a:p>
          <a:p xmlns:a="http://schemas.openxmlformats.org/drawingml/2006/main">
            <a:pPr>
              <a:buNone/>
              <a:defRPr sz="165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无法适配所有容器屏幕形状。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706227-D4D0-4182-99A8-068B61294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57900"/>
            <a:ext cx="1101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API 实验室提供 SwiftUI 和 UIKit 圆角对比。调整内边距，比较同心圆角与固定圆角。</a:t>
            </a:r>
          </a:p>
        </p:txBody>
      </p:sp>
      <p:pic>
        <p:nvPic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505302E-F858-4BDC-8938-6D46653CEFE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8fe43bf1b84afc"/>
          <a:srcRect xmlns:a="http://schemas.openxmlformats.org/drawingml/2006/main" l="48828" t="34759" r="15283" b="0"/>
          <a:stretch xmlns:a="http://schemas.openxmlformats.org/drawingml/2006/main"/>
        </p:blipFill>
        <p:spPr>
          <a:xfrm xmlns:a="http://schemas.openxmlformats.org/drawingml/2006/main">
            <a:off x="8099802" y="1809750"/>
            <a:ext cx="2926595" cy="29146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6206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B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7B1C11-00ED-4A5B-A4B3-81683DBD4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11010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0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0172A"/>
                </a:solidFill>
                <a:latin typeface="Arial"/>
                <a:ea typeface="Arial"/>
                <a:cs typeface="Arial"/>
              </a:rPr>
              <a:t>原生工具栏操作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4975D2-A9C4-4BC8-9073-3CBBD887C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895350"/>
            <a:ext cx="914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4EE5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358460-A2EA-4311-AECC-3D4280B85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800100"/>
            <a:ext cx="9858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cancellationAction 需要 iOS 14+，topBarPinnedTrailing 需要 iOS 27。保留旧系统位置回退。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C08EFF-BEBA-42EB-991C-CA6E8FF37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77000"/>
            <a:ext cx="628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6E789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E7891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1BF24B-987F-4164-AAD5-E7BAF0891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09700"/>
            <a:ext cx="66103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B4EE5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5B4EE5"/>
                </a:solidFill>
                <a:latin typeface="Arial"/>
                <a:ea typeface="Arial"/>
                <a:cs typeface="Arial"/>
              </a:rPr>
              <a:t>SwiftUI：具有语义的工具栏位置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0224BD-4127-4C8E-89AB-2F5DE5002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0"/>
            <a:ext cx="6610350" cy="3286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A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8CBA17-1317-475B-8DFD-9FF91B410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6229350" cy="3019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.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toolbar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{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</a:t>
            </a:r>
            <a:r>
              <a:rPr sz="1575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ToolbarItem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placement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: .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cancellationAction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) {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</a:t>
            </a:r>
            <a:r>
              <a:rPr sz="1575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Button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</a:t>
            </a:r>
            <a:r>
              <a:rPr sz="1575">
                <a:solidFill>
                  <a:srgbClr val="F3B98D"/>
                </a:solidFill>
                <a:latin typeface="DejaVu Sans Mono"/>
                <a:ea typeface="DejaVu Sans Mono"/>
                <a:cs typeface="DejaVu Sans Mono"/>
              </a:rPr>
              <a:t>"关闭"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, 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systemImage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: </a:t>
            </a:r>
            <a:r>
              <a:rPr sz="1575">
                <a:solidFill>
                  <a:srgbClr val="F3B98D"/>
                </a:solidFill>
                <a:latin typeface="DejaVu Sans Mono"/>
                <a:ea typeface="DejaVu Sans Mono"/>
                <a:cs typeface="DejaVu Sans Mono"/>
              </a:rPr>
              <a:t>"xmark"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) {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    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dismiss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()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}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}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</a:t>
            </a:r>
            <a:r>
              <a:rPr sz="1575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ToolbarItem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placement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: .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topBarPinnedTrailing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) {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</a:t>
            </a:r>
            <a:r>
              <a:rPr sz="1575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Button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</a:t>
            </a:r>
            <a:r>
              <a:rPr sz="1575">
                <a:solidFill>
                  <a:srgbClr val="F3B98D"/>
                </a:solidFill>
                <a:latin typeface="DejaVu Sans Mono"/>
                <a:ea typeface="DejaVu Sans Mono"/>
                <a:cs typeface="DejaVu Sans Mono"/>
              </a:rPr>
              <a:t>"发送"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, 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systemImage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: </a:t>
            </a:r>
            <a:r>
              <a:rPr sz="1575">
                <a:solidFill>
                  <a:srgbClr val="F3B98D"/>
                </a:solidFill>
                <a:latin typeface="DejaVu Sans Mono"/>
                <a:ea typeface="DejaVu Sans Mono"/>
                <a:cs typeface="DejaVu Sans Mono"/>
              </a:rPr>
              <a:t>"arrow.up"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) {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    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send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()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}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}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E938A9-4039-4669-BAE8-8D2BD5299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362575"/>
            <a:ext cx="66103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UIKit：leadingItemGroups 用于关闭</a:t>
            </a:r>
          </a:p>
          <a:p xmlns:a="http://schemas.openxmlformats.org/drawingml/2006/main">
            <a:pPr>
              <a:buNone/>
              <a:defRPr sz="165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pinnedTrailingGroup 用于醒目操作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1D3346-F106-4670-83F4-97780F1E1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409700"/>
            <a:ext cx="40767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B4EE5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5B4EE5"/>
                </a:solidFill>
                <a:latin typeface="Arial"/>
                <a:ea typeface="Arial"/>
                <a:cs typeface="Arial"/>
              </a:rPr>
              <a:t>Apple：关闭与醒目操作</a:t>
            </a:r>
          </a:p>
        </p:txBody>
      </p:sp>
      <p:pic>
        <p:nvPic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4048F33-9AFD-40EC-95D9-99684E24DD2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d5fa223d434a86"/>
          <a:srcRect xmlns:a="http://schemas.openxmlformats.org/drawingml/2006/main" l="92041" t="13529" r="977" b="50426"/>
          <a:stretch xmlns:a="http://schemas.openxmlformats.org/drawingml/2006/main"/>
        </p:blipFill>
        <p:spPr>
          <a:xfrm xmlns:a="http://schemas.openxmlformats.org/drawingml/2006/main">
            <a:off x="7941000" y="1857375"/>
            <a:ext cx="1072500" cy="2857500"/>
          </a:xfrm>
          <a:prstGeom xmlns:a="http://schemas.openxmlformats.org/drawingml/2006/main" prst="rect">
            <a:avLst/>
          </a:prstGeom>
        </p:spPr>
      </p:pic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C9D922E-BD1F-4160-A67D-52C2DA6ED02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c10317a7a74ad8"/>
          <a:srcRect xmlns:a="http://schemas.openxmlformats.org/drawingml/2006/main" l="91797" t="12705" r="977" b="50241"/>
          <a:stretch xmlns:a="http://schemas.openxmlformats.org/drawingml/2006/main"/>
        </p:blipFill>
        <p:spPr>
          <a:xfrm xmlns:a="http://schemas.openxmlformats.org/drawingml/2006/main">
            <a:off x="10099716" y="1857375"/>
            <a:ext cx="1098468" cy="28575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ED2A07-1815-4F1D-9D4D-17954C790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838700"/>
            <a:ext cx="1905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0172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172A"/>
                </a:solidFill>
                <a:latin typeface="Arial"/>
                <a:ea typeface="Arial"/>
                <a:cs typeface="Arial"/>
              </a:rPr>
              <a:t>关闭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0A1CBC-B03E-40FA-9860-C6747101B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838700"/>
            <a:ext cx="1905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0172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172A"/>
                </a:solidFill>
                <a:latin typeface="Arial"/>
                <a:ea typeface="Arial"/>
                <a:cs typeface="Arial"/>
              </a:rPr>
              <a:t>醒目操作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0B88D0-BD88-433E-9FEE-1FA6E7CA0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295900"/>
            <a:ext cx="40767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容器适配工具栏。</a:t>
            </a:r>
          </a:p>
          <a:p xmlns:a="http://schemas.openxmlformats.org/drawingml/2006/main">
            <a:pPr>
              <a:buNone/>
              <a:defRPr sz="1575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位置描述操作的角色。</a:t>
            </a:r>
          </a:p>
          <a:p xmlns:a="http://schemas.openxmlformats.org/drawingml/2006/main">
            <a:pPr>
              <a:buNone/>
              <a:defRPr sz="1575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保留标题和可执行操作。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EB9426-0199-433D-B2AC-B1823CF31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57900"/>
            <a:ext cx="1101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SwiftUI 和 UIKit 工具栏示例使用真实操作、原生容器和语义位置。</a:t>
            </a:r>
          </a:p>
        </p:txBody>
      </p:sp>
    </p:spTree>
    <p:extLst>
      <p:ext uri="{BB962C8B-B14F-4D97-AF65-F5344CB8AC3E}">
        <p14:creationId xmlns:p14="http://schemas.microsoft.com/office/powerpoint/2010/main" val="122827774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AFB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43BEA1-406B-4389-8C29-EFD39B9FE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11010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0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0172A"/>
                </a:solidFill>
                <a:latin typeface="Arial"/>
                <a:ea typeface="Arial"/>
                <a:cs typeface="Arial"/>
              </a:rPr>
              <a:t>溢出优先级与压缩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DAC724-FDAD-4522-8457-FF610D97A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895350"/>
            <a:ext cx="914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4EE5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B77865-B346-4851-B63C-E9CD28512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800100"/>
            <a:ext cx="9858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visibilityPriority 和 ToolbarOverflowMenu 需要 iOS 27。压缩偏好需要 iOS 27.1 beta。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2174A1-348C-47BE-9B84-947550EF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77000"/>
            <a:ext cx="628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6E789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E7891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3188B4-4CA2-4DDA-9524-826B8ECC0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09700"/>
            <a:ext cx="66103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B4EE5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5B4EE5"/>
                </a:solidFill>
                <a:latin typeface="Arial"/>
                <a:ea typeface="Arial"/>
                <a:cs typeface="Arial"/>
              </a:rPr>
              <a:t>API 实验室：优先级、溢出与压缩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2F8C4C-2BA1-4DA1-9171-CA79D478B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0"/>
            <a:ext cx="6610350" cy="395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A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F2F225-3E39-47F3-BC6F-F8FF02B13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6229350" cy="3686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.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toolbar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{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</a:t>
            </a:r>
            <a:r>
              <a:rPr sz="1575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ToolbarItem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{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</a:t>
            </a:r>
            <a:r>
              <a:rPr sz="1575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Button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</a:t>
            </a:r>
            <a:r>
              <a:rPr sz="1575">
                <a:solidFill>
                  <a:srgbClr val="F3B98D"/>
                </a:solidFill>
                <a:latin typeface="DejaVu Sans Mono"/>
                <a:ea typeface="DejaVu Sans Mono"/>
                <a:cs typeface="DejaVu Sans Mono"/>
              </a:rPr>
              <a:t>"检查"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, 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systemImage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: </a:t>
            </a:r>
            <a:r>
              <a:rPr sz="1575">
                <a:solidFill>
                  <a:srgbClr val="F3B98D"/>
                </a:solidFill>
                <a:latin typeface="DejaVu Sans Mono"/>
                <a:ea typeface="DejaVu Sans Mono"/>
                <a:cs typeface="DejaVu Sans Mono"/>
              </a:rPr>
              <a:t>"checkmark"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,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       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action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: 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review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)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}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.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visibilityPriority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(.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high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)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</a:t>
            </a:r>
            <a:r>
              <a:rPr sz="1575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ToolbarOverflowMenu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{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</a:t>
            </a:r>
            <a:r>
              <a:rPr sz="1575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Button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</a:t>
            </a:r>
            <a:r>
              <a:rPr sz="1575">
                <a:solidFill>
                  <a:srgbClr val="F3B98D"/>
                </a:solidFill>
                <a:latin typeface="DejaVu Sans Mono"/>
                <a:ea typeface="DejaVu Sans Mono"/>
                <a:cs typeface="DejaVu Sans Mono"/>
              </a:rPr>
              <a:t>"导出报告"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, 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action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: 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export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)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</a:t>
            </a:r>
            <a:r>
              <a:rPr sz="1575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Button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</a:t>
            </a:r>
            <a:r>
              <a:rPr sz="1575">
                <a:solidFill>
                  <a:srgbClr val="F3B98D"/>
                </a:solidFill>
                <a:latin typeface="DejaVu Sans Mono"/>
                <a:ea typeface="DejaVu Sans Mono"/>
                <a:cs typeface="DejaVu Sans Mono"/>
              </a:rPr>
              <a:t>"重置预览"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, 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action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: 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reset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)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}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}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.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toolbarVerticalCompressionBehavior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.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prefersToolbarItems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AED6D5-33CA-4C6B-A846-620EACD4A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409700"/>
            <a:ext cx="40767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B4EE5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5B4EE5"/>
                </a:solidFill>
                <a:latin typeface="Arial"/>
                <a:ea typeface="Arial"/>
                <a:cs typeface="Arial"/>
              </a:rPr>
              <a:t>Apple：统一的系统溢出菜单</a:t>
            </a:r>
          </a:p>
        </p:txBody>
      </p:sp>
      <p:pic>
        <p:nvPic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C49BDAB-BAA9-463B-89CC-36829CF81C4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8257e34a6e4a60"/>
          <a:srcRect xmlns:a="http://schemas.openxmlformats.org/drawingml/2006/main" l="82829" t="27746" r="908" b="1927"/>
          <a:stretch xmlns:a="http://schemas.openxmlformats.org/drawingml/2006/main"/>
        </p:blipFill>
        <p:spPr>
          <a:xfrm xmlns:a="http://schemas.openxmlformats.org/drawingml/2006/main">
            <a:off x="9156330" y="1809750"/>
            <a:ext cx="813539" cy="27622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9E5733-7C01-49BA-A67F-886FB74D3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781550"/>
            <a:ext cx="40767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0172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72A"/>
                </a:solidFill>
                <a:latin typeface="Arial"/>
                <a:ea typeface="Arial"/>
                <a:cs typeface="Arial"/>
              </a:rPr>
              <a:t>优先级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5F490C-2B1C-4707-A54F-172CD68DB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105400"/>
            <a:ext cx="40767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高优先级使操作延后进入溢出菜单。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62C707-1158-4B5B-A430-731B710AD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495925"/>
            <a:ext cx="40767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0172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72A"/>
                </a:solidFill>
                <a:latin typeface="Arial"/>
                <a:ea typeface="Arial"/>
                <a:cs typeface="Arial"/>
              </a:rPr>
              <a:t>压缩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BFE93D-574B-4752-B26F-D2C27F37B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810250"/>
            <a:ext cx="40767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此偏好优先压缩标签栏。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906849-ED69-4825-9D9B-109E65983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57900"/>
            <a:ext cx="1101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API 实验室可选择优先级和压缩偏好，系统溢出菜单中的操作可实际执行。</a:t>
            </a:r>
          </a:p>
        </p:txBody>
      </p:sp>
    </p:spTree>
    <p:extLst>
      <p:ext uri="{BB962C8B-B14F-4D97-AF65-F5344CB8AC3E}">
        <p14:creationId xmlns:p14="http://schemas.microsoft.com/office/powerpoint/2010/main" val="152137568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AFB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C022B8-2D67-497E-A2E1-5AF79EB90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11010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0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0172A"/>
                </a:solidFill>
                <a:latin typeface="Arial"/>
                <a:ea typeface="Arial"/>
                <a:cs typeface="Arial"/>
              </a:rPr>
              <a:t>垂直工具栏中的自定义控件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19D17C-8EF3-4A77-9ED8-8951C933A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895350"/>
            <a:ext cx="914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4EE5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078C3D-4A2A-4AA4-AD36-6012D02FF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800100"/>
            <a:ext cx="9858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toolbarVerticalEdge 和 UIKit verticalBarEdge 需要 iOS 27.1 beta。使用可用性及 SDK 检查。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7B217F-C178-4690-BFE4-7B93E7E7B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77000"/>
            <a:ext cx="628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6E789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E7891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4BD313-8534-4850-95B6-991AF3A9A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09700"/>
            <a:ext cx="66103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B4EE5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5B4EE5"/>
                </a:solidFill>
                <a:latin typeface="Arial"/>
                <a:ea typeface="Arial"/>
                <a:cs typeface="Arial"/>
              </a:rPr>
              <a:t>SwiftUI：保留标题的紧凑呈现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2B1B7F-0E0B-4A4E-9110-4BE3D95C8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0"/>
            <a:ext cx="6610350" cy="3438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A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8D3F75-BA2D-4B4D-8EFE-8BF471084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6229350" cy="3171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388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88">
                <a:solidFill>
                  <a:srgbClr val="EFA8EB"/>
                </a:solidFill>
                <a:latin typeface="DejaVu Sans Mono"/>
                <a:ea typeface="DejaVu Sans Mono"/>
                <a:cs typeface="DejaVu Sans Mono"/>
              </a:rPr>
              <a:t>struct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388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ReviewControl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: </a:t>
            </a:r>
            <a:r>
              <a:rPr sz="1388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View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{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388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</a:t>
            </a:r>
            <a:r>
              <a:rPr sz="1388">
                <a:solidFill>
                  <a:srgbClr val="EFA8EB"/>
                </a:solidFill>
                <a:latin typeface="DejaVu Sans Mono"/>
                <a:ea typeface="DejaVu Sans Mono"/>
                <a:cs typeface="DejaVu Sans Mono"/>
              </a:rPr>
              <a:t>@Environment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(\.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toolbarVerticalEdge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) </a:t>
            </a:r>
            <a:r>
              <a:rPr sz="1388">
                <a:solidFill>
                  <a:srgbClr val="EFA8EB"/>
                </a:solidFill>
                <a:latin typeface="DejaVu Sans Mono"/>
                <a:ea typeface="DejaVu Sans Mono"/>
                <a:cs typeface="DejaVu Sans Mono"/>
              </a:rPr>
              <a:t>private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388">
                <a:solidFill>
                  <a:srgbClr val="EFA8EB"/>
                </a:solidFill>
                <a:latin typeface="DejaVu Sans Mono"/>
                <a:ea typeface="DejaVu Sans Mono"/>
                <a:cs typeface="DejaVu Sans Mono"/>
              </a:rPr>
              <a:t>var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edge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388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</a:t>
            </a:r>
            <a:r>
              <a:rPr sz="1388">
                <a:solidFill>
                  <a:srgbClr val="EFA8EB"/>
                </a:solidFill>
                <a:latin typeface="DejaVu Sans Mono"/>
                <a:ea typeface="DejaVu Sans Mono"/>
                <a:cs typeface="DejaVu Sans Mono"/>
              </a:rPr>
              <a:t>let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review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: () -&gt; </a:t>
            </a:r>
            <a:r>
              <a:rPr sz="1388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Void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388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</a:t>
            </a:r>
            <a:r>
              <a:rPr sz="1388">
                <a:solidFill>
                  <a:srgbClr val="EFA8EB"/>
                </a:solidFill>
                <a:latin typeface="DejaVu Sans Mono"/>
                <a:ea typeface="DejaVu Sans Mono"/>
                <a:cs typeface="DejaVu Sans Mono"/>
              </a:rPr>
              <a:t>var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body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: </a:t>
            </a:r>
            <a:r>
              <a:rPr sz="1388">
                <a:solidFill>
                  <a:srgbClr val="EFA8EB"/>
                </a:solidFill>
                <a:latin typeface="DejaVu Sans Mono"/>
                <a:ea typeface="DejaVu Sans Mono"/>
                <a:cs typeface="DejaVu Sans Mono"/>
              </a:rPr>
              <a:t>some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388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View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{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388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</a:t>
            </a:r>
            <a:r>
              <a:rPr sz="1388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Button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action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: 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review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) {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388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    </a:t>
            </a:r>
            <a:r>
              <a:rPr sz="1388">
                <a:solidFill>
                  <a:srgbClr val="EFA8EB"/>
                </a:solidFill>
                <a:latin typeface="DejaVu Sans Mono"/>
                <a:ea typeface="DejaVu Sans Mono"/>
                <a:cs typeface="DejaVu Sans Mono"/>
              </a:rPr>
              <a:t>if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edge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!= </a:t>
            </a:r>
            <a:r>
              <a:rPr sz="1388">
                <a:solidFill>
                  <a:srgbClr val="EFA8EB"/>
                </a:solidFill>
                <a:latin typeface="DejaVu Sans Mono"/>
                <a:ea typeface="DejaVu Sans Mono"/>
                <a:cs typeface="DejaVu Sans Mono"/>
              </a:rPr>
              <a:t>nil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{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388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        </a:t>
            </a:r>
            <a:r>
              <a:rPr sz="1388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Label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</a:t>
            </a:r>
            <a:r>
              <a:rPr sz="1388">
                <a:solidFill>
                  <a:srgbClr val="F3B98D"/>
                </a:solidFill>
                <a:latin typeface="DejaVu Sans Mono"/>
                <a:ea typeface="DejaVu Sans Mono"/>
                <a:cs typeface="DejaVu Sans Mono"/>
              </a:rPr>
              <a:t>"检查"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, 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systemImage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: </a:t>
            </a:r>
            <a:r>
              <a:rPr sz="1388">
                <a:solidFill>
                  <a:srgbClr val="F3B98D"/>
                </a:solidFill>
                <a:latin typeface="DejaVu Sans Mono"/>
                <a:ea typeface="DejaVu Sans Mono"/>
                <a:cs typeface="DejaVu Sans Mono"/>
              </a:rPr>
              <a:t>"checkmark"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)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388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            .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labelStyle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(.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iconOnly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)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388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    } </a:t>
            </a:r>
            <a:r>
              <a:rPr sz="1388">
                <a:solidFill>
                  <a:srgbClr val="EFA8EB"/>
                </a:solidFill>
                <a:latin typeface="DejaVu Sans Mono"/>
                <a:ea typeface="DejaVu Sans Mono"/>
                <a:cs typeface="DejaVu Sans Mono"/>
              </a:rPr>
              <a:t>else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{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388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        </a:t>
            </a:r>
            <a:r>
              <a:rPr sz="1388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Label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</a:t>
            </a:r>
            <a:r>
              <a:rPr sz="1388">
                <a:solidFill>
                  <a:srgbClr val="F3B98D"/>
                </a:solidFill>
                <a:latin typeface="DejaVu Sans Mono"/>
                <a:ea typeface="DejaVu Sans Mono"/>
                <a:cs typeface="DejaVu Sans Mono"/>
              </a:rPr>
              <a:t>"检查"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, 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systemImage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: </a:t>
            </a:r>
            <a:r>
              <a:rPr sz="1388">
                <a:solidFill>
                  <a:srgbClr val="F3B98D"/>
                </a:solidFill>
                <a:latin typeface="DejaVu Sans Mono"/>
                <a:ea typeface="DejaVu Sans Mono"/>
                <a:cs typeface="DejaVu Sans Mono"/>
              </a:rPr>
              <a:t>"checkmark"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)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388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            .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labelStyle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(.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titleAndIcon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)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388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    }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388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}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388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}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388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BF9DEF-0016-4DF1-81FE-C7DB8D81D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353050"/>
            <a:ext cx="6610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A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D8449E-BEF2-4D80-BC66-B6D5A9D3D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05450"/>
            <a:ext cx="6229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388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88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ToolbarItem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{ </a:t>
            </a:r>
            <a:r>
              <a:rPr sz="1388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ReviewControl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review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: 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review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) }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388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.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axisBehavior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(.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verticalPreferred</a:t>
            </a:r>
            <a:r>
              <a:rPr sz="1388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A8EDB5-0B5E-45C3-9CAC-B525DDEBF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409700"/>
            <a:ext cx="40767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B4EE5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5B4EE5"/>
                </a:solidFill>
                <a:latin typeface="Arial"/>
                <a:ea typeface="Arial"/>
                <a:cs typeface="Arial"/>
              </a:rPr>
              <a:t>Apple：不同工具栏背景</a:t>
            </a:r>
          </a:p>
        </p:txBody>
      </p:sp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0A8EE71-74D8-4394-91AF-AE3DA803C6E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44bafd06d94035"/>
          <a:srcRect xmlns:a="http://schemas.openxmlformats.org/drawingml/2006/main" l="13086" t="7771" r="6836" b="2904"/>
          <a:stretch xmlns:a="http://schemas.openxmlformats.org/drawingml/2006/main"/>
        </p:blipFill>
        <p:spPr>
          <a:xfrm xmlns:a="http://schemas.openxmlformats.org/drawingml/2006/main">
            <a:off x="7957691" y="1809750"/>
            <a:ext cx="3210817" cy="2047875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BA1E27-C4A1-4D34-9E86-E5ED9669B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057650"/>
            <a:ext cx="40767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B4EE5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5B4EE5"/>
                </a:solidFill>
                <a:latin typeface="Arial"/>
                <a:ea typeface="Arial"/>
                <a:cs typeface="Arial"/>
              </a:rPr>
              <a:t>UIKit 对应 Trait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F0B620-8155-4280-BEFC-73F8D009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419600"/>
            <a:ext cx="407670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4399E5-4A8B-4FDF-939C-15B4A8352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572000"/>
            <a:ext cx="36957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42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traitCollection</a:t>
            </a:r>
            <a:r>
              <a:rPr sz="142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.</a:t>
            </a:r>
            <a:r>
              <a:rPr sz="142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verticalBarEdge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1547B2-C05D-4093-AA81-F5BFA458D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276850"/>
            <a:ext cx="40767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隐藏时也可能存在首选边缘。</a:t>
            </a:r>
          </a:p>
          <a:p xmlns:a="http://schemas.openxmlformats.org/drawingml/2006/main">
            <a:pPr>
              <a:buNone/>
              <a:defRPr sz="1575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检查 Reduce Transparency 下的可读性。</a:t>
            </a:r>
          </a:p>
          <a:p xmlns:a="http://schemas.openxmlformats.org/drawingml/2006/main">
            <a:pPr>
              <a:buNone/>
              <a:defRPr sz="1575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为辅助功能保留标题。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931617-4C3E-4D8A-815D-F67E6395A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57900"/>
            <a:ext cx="1101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API 实验室比较自定义控件轴向和首选边缘适配。内容中仍保留操作入口。</a:t>
            </a:r>
          </a:p>
        </p:txBody>
      </p:sp>
    </p:spTree>
    <p:extLst>
      <p:ext uri="{BB962C8B-B14F-4D97-AF65-F5344CB8AC3E}">
        <p14:creationId xmlns:p14="http://schemas.microsoft.com/office/powerpoint/2010/main" val="84837074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AFB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2AFC0A-1146-4762-B5A1-D9E99A553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11010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0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0172A"/>
                </a:solidFill>
                <a:latin typeface="Arial"/>
                <a:ea typeface="Arial"/>
                <a:cs typeface="Arial"/>
              </a:rPr>
              <a:t>自适应 Sheet 与呈现方式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72F744-F925-4931-A59C-F3549DC77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895350"/>
            <a:ext cx="914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4EE5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B9FDEC-552D-4059-A9D0-4E8DB1505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800100"/>
            <a:ext cx="9858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sheet 需要 iOS 13+。此模式中的 NavigationStack 和 presentationDetents 需要 iOS 16+。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9FA72E-7C02-4F6B-B52E-622F96EEB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77000"/>
            <a:ext cx="628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6E789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E7891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3E3EE0-0C52-4149-9509-B657FF92A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09700"/>
            <a:ext cx="66103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B4EE5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5B4EE5"/>
                </a:solidFill>
                <a:latin typeface="Arial"/>
                <a:ea typeface="Arial"/>
                <a:cs typeface="Arial"/>
              </a:rPr>
              <a:t>共享父视图状态的原生 Sheet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5EE8F3-9431-4A39-8D1E-4070A9EFD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0"/>
            <a:ext cx="661035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A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B92F73-4240-48E5-AD23-6101FBDEA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6229350" cy="3209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FA8EB"/>
                </a:solidFill>
                <a:latin typeface="DejaVu Sans Mono"/>
                <a:ea typeface="DejaVu Sans Mono"/>
                <a:cs typeface="DejaVu Sans Mono"/>
              </a:rPr>
              <a:t>@State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575">
                <a:solidFill>
                  <a:srgbClr val="EFA8EB"/>
                </a:solidFill>
                <a:latin typeface="DejaVu Sans Mono"/>
                <a:ea typeface="DejaVu Sans Mono"/>
                <a:cs typeface="DejaVu Sans Mono"/>
              </a:rPr>
              <a:t>private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575">
                <a:solidFill>
                  <a:srgbClr val="EFA8EB"/>
                </a:solidFill>
                <a:latin typeface="DejaVu Sans Mono"/>
                <a:ea typeface="DejaVu Sans Mono"/>
                <a:cs typeface="DejaVu Sans Mono"/>
              </a:rPr>
              <a:t>var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showsAudit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= </a:t>
            </a:r>
            <a:r>
              <a:rPr sz="1575">
                <a:solidFill>
                  <a:srgbClr val="EFA8EB"/>
                </a:solidFill>
                <a:latin typeface="DejaVu Sans Mono"/>
                <a:ea typeface="DejaVu Sans Mono"/>
                <a:cs typeface="DejaVu Sans Mono"/>
              </a:rPr>
              <a:t>false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/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9AA9BC"/>
                </a:solidFill>
                <a:latin typeface="DejaVu Sans Mono"/>
                <a:ea typeface="DejaVu Sans Mono"/>
                <a:cs typeface="DejaVu Sans Mono"/>
              </a:rPr>
              <a:t>// 在发起呈现的视图 body 中：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Button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</a:t>
            </a:r>
            <a:r>
              <a:rPr sz="1575">
                <a:solidFill>
                  <a:srgbClr val="F3B98D"/>
                </a:solidFill>
                <a:latin typeface="DejaVu Sans Mono"/>
                <a:ea typeface="DejaVu Sans Mono"/>
                <a:cs typeface="DejaVu Sans Mono"/>
              </a:rPr>
              <a:t>"布局检查"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) {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showsAudit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= </a:t>
            </a:r>
            <a:r>
              <a:rPr sz="1575">
                <a:solidFill>
                  <a:srgbClr val="EFA8EB"/>
                </a:solidFill>
                <a:latin typeface="DejaVu Sans Mono"/>
                <a:ea typeface="DejaVu Sans Mono"/>
                <a:cs typeface="DejaVu Sans Mono"/>
              </a:rPr>
              <a:t>true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}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.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sheet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isPresented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: $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showsAudit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) {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</a:t>
            </a:r>
            <a:r>
              <a:rPr sz="1575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NavigationStack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{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</a:t>
            </a:r>
            <a:r>
              <a:rPr sz="1575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ReviewContent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()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    .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navigationTitle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</a:t>
            </a:r>
            <a:r>
              <a:rPr sz="1575">
                <a:solidFill>
                  <a:srgbClr val="F3B98D"/>
                </a:solidFill>
                <a:latin typeface="DejaVu Sans Mono"/>
                <a:ea typeface="DejaVu Sans Mono"/>
                <a:cs typeface="DejaVu Sans Mono"/>
              </a:rPr>
              <a:t>"布局检查"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)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}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.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presentationDetents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([.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medium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, .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large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])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36F601-0AF3-4089-A955-559BD429B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495925"/>
            <a:ext cx="66103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API 实验室包含带 Detent 的可编辑 Sheet。</a:t>
            </a:r>
          </a:p>
          <a:p xmlns:a="http://schemas.openxmlformats.org/drawingml/2006/main">
            <a:pPr>
              <a:buNone/>
              <a:defRPr sz="165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调整窗口大小时，父视图保留草稿。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B216F9-9B9A-4A15-B518-87D74DF96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409700"/>
            <a:ext cx="40767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B4EE5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5B4EE5"/>
                </a:solidFill>
                <a:latin typeface="Arial"/>
                <a:ea typeface="Arial"/>
                <a:cs typeface="Arial"/>
              </a:rPr>
              <a:t>Apple：Sheet 避开折叠处</a:t>
            </a:r>
          </a:p>
        </p:txBody>
      </p:sp>
      <p:pic>
        <p:nvPic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2BCAD21-04ED-40BF-8789-C30E7E3D7C7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0e244a4f114379"/>
          <a:srcRect xmlns:a="http://schemas.openxmlformats.org/drawingml/2006/main" l="20833" t="8889" r="20625" b="8889"/>
          <a:stretch xmlns:a="http://schemas.openxmlformats.org/drawingml/2006/main"/>
        </p:blipFill>
        <p:spPr>
          <a:xfrm xmlns:a="http://schemas.openxmlformats.org/drawingml/2006/main">
            <a:off x="7802863" y="1809750"/>
            <a:ext cx="3520474" cy="27813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C6CB12-0387-40DA-AE48-613C20869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848225"/>
            <a:ext cx="407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0172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72A"/>
                </a:solidFill>
                <a:latin typeface="Arial"/>
                <a:ea typeface="Arial"/>
                <a:cs typeface="Arial"/>
              </a:rPr>
              <a:t>变化效果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C2A6EA-F3B1-4989-8A2A-47B3B2E4D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248275"/>
            <a:ext cx="40767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系统定位 Sheet 和工具栏。</a:t>
            </a:r>
          </a:p>
          <a:p xmlns:a="http://schemas.openxmlformats.org/drawingml/2006/main">
            <a:pPr>
              <a:buNone/>
              <a:defRPr sz="165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自定义控件仍需适配空间。</a:t>
            </a:r>
          </a:p>
          <a:p xmlns:a="http://schemas.openxmlformats.org/drawingml/2006/main">
            <a:pPr>
              <a:buNone/>
              <a:defRPr sz="165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滚动内容可跨越折叠处。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A9F7C7-BF68-409F-B312-EDC032BF1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57900"/>
            <a:ext cx="1101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API 实验室也包含 Popover、Alert 和操作菜单。工具栏示例比较垂直工具栏偏好。</a:t>
            </a:r>
          </a:p>
        </p:txBody>
      </p:sp>
    </p:spTree>
    <p:extLst>
      <p:ext uri="{BB962C8B-B14F-4D97-AF65-F5344CB8AC3E}">
        <p14:creationId xmlns:p14="http://schemas.microsoft.com/office/powerpoint/2010/main" val="208970176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AFB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FE084C-1DCD-480B-BA37-BDE733235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11010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0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0172A"/>
                </a:solidFill>
                <a:latin typeface="Arial"/>
                <a:ea typeface="Arial"/>
                <a:cs typeface="Arial"/>
              </a:rPr>
              <a:t>Xcode 27.1 中的 App Resizability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113111-8B23-4120-9264-BCED47CC1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895350"/>
            <a:ext cx="914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4EE5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521594-628F-4EB3-B23D-668F842BC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800100"/>
            <a:ext cx="9858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Apple 的编程 skill 辅助 Agent 更新整个现有项目的源码。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A0495A-62BB-4E09-BC91-7BEB4EA45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09700"/>
            <a:ext cx="72771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B4EE5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5B4EE5"/>
                </a:solidFill>
                <a:latin typeface="Arial"/>
                <a:ea typeface="Arial"/>
                <a:cs typeface="Arial"/>
              </a:rPr>
              <a:t>Apple 示例：替换全局屏幕假设</a:t>
            </a:r>
          </a:p>
        </p:txBody>
      </p:sp>
      <p:pic>
        <p:nvPic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4D4571-DC43-4DA3-AAF0-81C9A4087F1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b2555f2f314dc4"/>
          <a:stretch xmlns:a="http://schemas.openxmlformats.org/drawingml/2006/main"/>
        </p:blipFill>
        <p:spPr>
          <a:xfrm xmlns:a="http://schemas.openxmlformats.org/drawingml/2006/main">
            <a:off x="590550" y="1871651"/>
            <a:ext cx="7277100" cy="3558562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8D67EF-10D3-413B-9827-7D651838B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524000"/>
            <a:ext cx="3352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0172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72A"/>
                </a:solidFill>
                <a:latin typeface="Arial"/>
                <a:ea typeface="Arial"/>
                <a:cs typeface="Arial"/>
              </a:rPr>
              <a:t>1. 检查 workspace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87DE7E-7300-4588-A48E-2D6B8D2A7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933575"/>
            <a:ext cx="335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让 skill 检查窗口调整、</a:t>
            </a:r>
          </a:p>
          <a:p xmlns:a="http://schemas.openxmlformats.org/drawingml/2006/main">
            <a:pPr>
              <a:buNone/>
              <a:defRPr sz="1725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局部几何信息和安全区域。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76DC4A-DE59-488E-ABFB-E8AECC8D1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48000"/>
            <a:ext cx="3352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0172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72A"/>
                </a:solidFill>
                <a:latin typeface="Arial"/>
                <a:ea typeface="Arial"/>
                <a:cs typeface="Arial"/>
              </a:rPr>
              <a:t>2. 审阅修改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0D212B-07C5-41FF-8FA4-F31558BA1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457575"/>
            <a:ext cx="335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在 diff 中检查状态归属</a:t>
            </a:r>
          </a:p>
          <a:p xmlns:a="http://schemas.openxmlformats.org/drawingml/2006/main">
            <a:pPr>
              <a:buNone/>
              <a:defRPr sz="1725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和旧系统回退。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ADBE33-D987-4668-80B2-EC370C8D7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572000"/>
            <a:ext cx="3352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0172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72A"/>
                </a:solidFill>
                <a:latin typeface="Arial"/>
                <a:ea typeface="Arial"/>
                <a:cs typeface="Arial"/>
              </a:rPr>
              <a:t>3. 构建并调整大小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FA4E91-6C8F-438E-96BE-E3E99894E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981575"/>
            <a:ext cx="335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在普通 iPhone 和 Duo 上</a:t>
            </a:r>
          </a:p>
          <a:p xmlns:a="http://schemas.openxmlformats.org/drawingml/2006/main">
            <a:pPr>
              <a:buNone/>
              <a:defRPr sz="1725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验证更新后的 UI。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5FBA3F-49EF-470C-BABB-3969CD4B8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638800"/>
            <a:ext cx="72771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A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51D24A-3930-400F-845D-8982D601F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743575"/>
            <a:ext cx="69723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72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let screenScale = traitCollection.displayScale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20848A-456B-46CE-9923-E86D0993A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219825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skill 在开发阶段编辑源码。应用运行时，由原生容器处理适配。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0F904A-897A-4F20-8B81-CDE55A416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77000"/>
            <a:ext cx="628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6E789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E7891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38453041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AFB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BEBA38-4160-4357-A495-7D2ACCF98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11010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0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0172A"/>
                </a:solidFill>
                <a:latin typeface="Arial"/>
                <a:ea typeface="Arial"/>
                <a:cs typeface="Arial"/>
              </a:rPr>
              <a:t>现有应用迁移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338ADF-996D-4379-BC35-9810E40F8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895350"/>
            <a:ext cx="914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4EE5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BA8A78-0853-44D4-AEF7-82F881785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800100"/>
            <a:ext cx="9858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8 个 API 实验室交互示例位于同一应用。保留构建兼容性，并验证各运行环境。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8D8754-FC3E-4027-BCCE-5A0E76D1C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77000"/>
            <a:ext cx="628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6E789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E7891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DECAC2-9D8A-42B7-985C-7958E84EC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09700"/>
            <a:ext cx="6381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B4EE5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5B4EE5"/>
                </a:solidFill>
                <a:latin typeface="Arial"/>
                <a:ea typeface="Arial"/>
                <a:cs typeface="Arial"/>
              </a:rPr>
              <a:t>源码修改与构建兼容性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C2D610-E87B-437F-92B6-5323F93E5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0"/>
            <a:ext cx="638175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A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D19C9C-F1F1-4B11-A1F0-53AE8F81A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6000750" cy="27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FA8EB"/>
                </a:solidFill>
                <a:latin typeface="DejaVu Sans Mono"/>
                <a:ea typeface="DejaVu Sans Mono"/>
                <a:cs typeface="DejaVu Sans Mono"/>
              </a:rPr>
              <a:t>#if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575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DUO_SDK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FA8EB"/>
                </a:solidFill>
                <a:latin typeface="DejaVu Sans Mono"/>
                <a:ea typeface="DejaVu Sans Mono"/>
                <a:cs typeface="DejaVu Sans Mono"/>
              </a:rPr>
              <a:t>if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575">
                <a:solidFill>
                  <a:srgbClr val="EFA8EB"/>
                </a:solidFill>
                <a:latin typeface="DejaVu Sans Mono"/>
                <a:ea typeface="DejaVu Sans Mono"/>
                <a:cs typeface="DejaVu Sans Mono"/>
              </a:rPr>
              <a:t>#available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iOS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575">
                <a:solidFill>
                  <a:srgbClr val="B8D7A3"/>
                </a:solidFill>
                <a:latin typeface="DejaVu Sans Mono"/>
                <a:ea typeface="DejaVu Sans Mono"/>
                <a:cs typeface="DejaVu Sans Mono"/>
              </a:rPr>
              <a:t>27.1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, *) {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</a:t>
            </a:r>
            <a:r>
              <a:rPr sz="1575">
                <a:solidFill>
                  <a:srgbClr val="86D8DD"/>
                </a:solidFill>
                <a:latin typeface="DejaVu Sans Mono"/>
                <a:ea typeface="DejaVu Sans Mono"/>
                <a:cs typeface="DejaVu Sans Mono"/>
              </a:rPr>
              <a:t>NativeArrangementContent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    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items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: 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items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, 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category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: 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category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)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} </a:t>
            </a:r>
            <a:r>
              <a:rPr sz="1575">
                <a:solidFill>
                  <a:srgbClr val="EFA8EB"/>
                </a:solidFill>
                <a:latin typeface="DejaVu Sans Mono"/>
                <a:ea typeface="DejaVu Sans Mono"/>
                <a:cs typeface="DejaVu Sans Mono"/>
              </a:rPr>
              <a:t>else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{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    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fallback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</a:t>
            </a:r>
            <a:r>
              <a:rPr sz="1575">
                <a:solidFill>
                  <a:srgbClr val="F3B98D"/>
                </a:solidFill>
                <a:latin typeface="DejaVu Sans Mono"/>
                <a:ea typeface="DejaVu Sans Mono"/>
                <a:cs typeface="DejaVu Sans Mono"/>
              </a:rPr>
              <a:t>"需要 iOS 27.1"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)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}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FA8EB"/>
                </a:solidFill>
                <a:latin typeface="DejaVu Sans Mono"/>
                <a:ea typeface="DejaVu Sans Mono"/>
                <a:cs typeface="DejaVu Sans Mono"/>
              </a:rPr>
              <a:t>#else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fallback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(</a:t>
            </a:r>
            <a:r>
              <a:rPr sz="1575">
                <a:solidFill>
                  <a:srgbClr val="F3B98D"/>
                </a:solidFill>
                <a:latin typeface="DejaVu Sans Mono"/>
                <a:ea typeface="DejaVu Sans Mono"/>
                <a:cs typeface="DejaVu Sans Mono"/>
              </a:rPr>
              <a:t>"请使用基础布局"</a:t>
            </a:r>
            <a:r>
              <a:rPr sz="1575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rPr>
              <a:t>)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EDF0FC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>
                <a:solidFill>
                  <a:srgbClr val="EFA8EB"/>
                </a:solidFill>
                <a:latin typeface="DejaVu Sans Mono"/>
                <a:ea typeface="DejaVu Sans Mono"/>
                <a:cs typeface="DejaVu Sans Mono"/>
              </a:rPr>
              <a:t>#endif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903AB2-5DB2-401D-882D-47C56C2E3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029200"/>
            <a:ext cx="63817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保留 iOS 17 支持和共享 SwiftData。</a:t>
            </a:r>
          </a:p>
          <a:p xmlns:a="http://schemas.openxmlformats.org/drawingml/2006/main">
            <a:pPr>
              <a:buNone/>
              <a:defRPr sz="180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使用 App Resizability 审查各页面。</a:t>
            </a:r>
          </a:p>
          <a:p xmlns:a="http://schemas.openxmlformats.org/drawingml/2006/main">
            <a:pPr>
              <a:buNone/>
              <a:defRPr sz="180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构建基础与原生两条路径。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6CDE7A-2FBE-47E4-88C0-887C28134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409700"/>
            <a:ext cx="4191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B4EE5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5B4EE5"/>
                </a:solidFill>
                <a:latin typeface="Arial"/>
                <a:ea typeface="Arial"/>
                <a:cs typeface="Arial"/>
              </a:rPr>
              <a:t>窗口变化时的验证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FE8E20-8FD9-45B0-8AD7-258F65E56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914525"/>
            <a:ext cx="419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0172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72A"/>
                </a:solidFill>
                <a:latin typeface="Arial"/>
                <a:ea typeface="Arial"/>
                <a:cs typeface="Arial"/>
              </a:rPr>
              <a:t>状态连续性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70D5A9-8A44-4FDD-AAF0-2C3DF1284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314575"/>
            <a:ext cx="4191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保留相同的选择、草稿和记录。</a:t>
            </a:r>
          </a:p>
          <a:p xmlns:a="http://schemas.openxmlformats.org/drawingml/2006/main">
            <a:pPr>
              <a:buNone/>
              <a:defRPr sz="165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避免用 .id(width) 重置身份。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31B2C4-9227-4989-AE0C-D31F4836F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286125"/>
            <a:ext cx="419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0172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72A"/>
                </a:solidFill>
                <a:latin typeface="Arial"/>
                <a:ea typeface="Arial"/>
                <a:cs typeface="Arial"/>
              </a:rPr>
              <a:t>布局与辅助功能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EB5930-B8D8-4808-A5B1-A447DFD9C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686175"/>
            <a:ext cx="4191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展开、闭合、旋转和多任务。</a:t>
            </a:r>
          </a:p>
          <a:p xmlns:a="http://schemas.openxmlformats.org/drawingml/2006/main">
            <a:pPr>
              <a:buNone/>
              <a:defRPr sz="165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测试大字号、溢出菜单和两侧边缘。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7B1C90-BE1F-4430-94B1-B6050724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657725"/>
            <a:ext cx="419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0172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72A"/>
                </a:solidFill>
                <a:latin typeface="Arial"/>
                <a:ea typeface="Arial"/>
                <a:cs typeface="Arial"/>
              </a:rPr>
              <a:t>性能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314865-BEF4-4B3B-9941-7F3018C4C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5057775"/>
            <a:ext cx="41910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保持 body 低开销。使用 Instruments</a:t>
            </a:r>
          </a:p>
          <a:p xmlns:a="http://schemas.openxmlformats.org/drawingml/2006/main">
            <a:pPr>
              <a:buNone/>
              <a:defRPr sz="165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和真实数据分析过渡。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BAC857-EE7D-46D5-9C5F-6EB2446A9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57900"/>
            <a:ext cx="1101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当前版本已通过 Xcode 构建及现有测试。真机能力与完整场景仍需验证。</a:t>
            </a:r>
          </a:p>
        </p:txBody>
      </p:sp>
    </p:spTree>
    <p:extLst>
      <p:ext uri="{BB962C8B-B14F-4D97-AF65-F5344CB8AC3E}">
        <p14:creationId xmlns:p14="http://schemas.microsoft.com/office/powerpoint/2010/main" val="3287313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AFB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1FB3E4-6BC0-46F2-B775-0F01E9E54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14575"/>
            <a:ext cx="10058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5550" b="1">
                <a:solidFill>
                  <a:srgbClr val="10172A"/>
                </a:solidFill>
                <a:latin typeface="Arial"/>
                <a:ea typeface="Arial"/>
                <a:cs typeface="Arial"/>
              </a:defRPr>
            </a:pPr>
            <a:r>
              <a:rPr sz="5550" b="1">
                <a:solidFill>
                  <a:srgbClr val="10172A"/>
                </a:solidFill>
                <a:latin typeface="Arial"/>
                <a:ea typeface="Arial"/>
                <a:cs typeface="Arial"/>
              </a:rPr>
              <a:t>谢谢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48158C-01F8-4159-85E2-7029061AD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562350"/>
            <a:ext cx="100107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5B4EE5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5B4EE5"/>
                </a:solidFill>
                <a:latin typeface="Arial"/>
                <a:ea typeface="Arial"/>
                <a:cs typeface="Arial"/>
              </a:rPr>
              <a:t>Somendra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48720A-E653-4992-917B-CCB0A58F8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333875"/>
            <a:ext cx="100107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46516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6516B"/>
                </a:solidFill>
                <a:latin typeface="Arial"/>
                <a:ea typeface="Arial"/>
                <a:cs typeface="Arial"/>
              </a:rPr>
              <a:t>iPhone Duo 自适应布局</a:t>
            </a:r>
          </a:p>
        </p:txBody>
      </p:sp>
    </p:spTree>
    <p:extLst>
      <p:ext uri="{BB962C8B-B14F-4D97-AF65-F5344CB8AC3E}">
        <p14:creationId xmlns:p14="http://schemas.microsoft.com/office/powerpoint/2010/main" val="583592790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2026-10-12T06:25:51.5980000Z</dcterms:created>
  <dcterms:modified xsi:type="dcterms:W3CDTF">2026-10-12T06:25:51.5980000Z</dcterms:modified>
</coreProperties>
</file>